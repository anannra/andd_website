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n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548640"/>
            <a:ext cx="3200400" cy="320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E2E8F0"/>
                </a:solidFill>
                <a:latin typeface="Calibri"/>
              </a:defRPr>
            </a:pPr>
            <a:r>
              <a:t>AI Native Distributed</a:t>
            </a:r>
            <a:br/>
            <a:r>
              <a:t>Datacenter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700" b="0">
                <a:solidFill>
                  <a:srgbClr val="9CA3AF"/>
                </a:solidFill>
                <a:latin typeface="Calibri"/>
              </a:defRPr>
            </a:pPr>
            <a:r>
              <a:t>A commercially scalable network of inference-specific micro datacenters</a:t>
            </a:r>
            <a:br/>
            <a:r>
              <a:t>delivering AI models, agents, and on-demand token capacity at the 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4297680"/>
            <a:ext cx="2011680" cy="10515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448056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$162B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983480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DC Projects Blocked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4297680"/>
            <a:ext cx="2011680" cy="10515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448056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&lt;2MW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4983480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Per Site Footprint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297680"/>
            <a:ext cx="2011680" cy="10515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48056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AI 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983480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Autonomous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332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Business Overview — April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CONFIDENTIAL — DO NOT DISTRIBUTE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The Datacenter Industry Has Hit a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Massive datacenter projects face unprecedented opposition while AI inference demand explodes. The industry needs a fundamentally different approach.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474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EF4444"/>
                </a:solidFill>
                <a:latin typeface="Calibri"/>
              </a:defRPr>
            </a:pPr>
            <a:r>
              <a:t>$162B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of datacenter projects</a:t>
            </a:r>
            <a:br/>
            <a:r>
              <a:t>blocked by state &amp; local pushback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103120"/>
            <a:ext cx="3474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EF4444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60604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of East Coast internet traffic</a:t>
            </a:r>
            <a:br/>
            <a:r>
              <a:t>routed through Northern Virginia alone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03120"/>
            <a:ext cx="3474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EF4444"/>
                </a:solidFill>
                <a:latin typeface="Calibri"/>
              </a:defRPr>
            </a:pPr>
            <a:r>
              <a:t>300MW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60604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per hyperscale campus —</a:t>
            </a:r>
            <a:br/>
            <a:r>
              <a:t>equivalent to a small power 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5394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Why States Are Pushing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5394960" cy="274320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rPr sz="1200" b="0">
                <a:solidFill>
                  <a:srgbClr val="D1D5DB"/>
                </a:solidFill>
                <a:latin typeface="Calibri"/>
              </a:rPr>
              <a:t>▸  Hyperscale campuses overwhelm local power grids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rPr sz="1200" b="0">
                <a:solidFill>
                  <a:srgbClr val="D1D5DB"/>
                </a:solidFill>
                <a:latin typeface="Calibri"/>
              </a:rPr>
              <a:t>▸  Massive water consumption for cooling (millions of gallons/day)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rPr sz="1200" b="0">
                <a:solidFill>
                  <a:srgbClr val="D1D5DB"/>
                </a:solidFill>
                <a:latin typeface="Calibri"/>
              </a:rPr>
              <a:t>▸  Communities see burden without proportional economic benefit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rPr sz="1200" b="0">
                <a:solidFill>
                  <a:srgbClr val="D1D5DB"/>
                </a:solidFill>
                <a:latin typeface="Calibri"/>
              </a:rPr>
              <a:t>▸  Environmental impact reviews blocking permits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rPr sz="1200" b="0">
                <a:solidFill>
                  <a:srgbClr val="D1D5DB"/>
                </a:solidFill>
                <a:latin typeface="Calibri"/>
              </a:rPr>
              <a:t>▸  Political pressure from residents and local government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46120"/>
            <a:ext cx="5394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t>What This Concentration Means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611880"/>
            <a:ext cx="5394960" cy="274320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rPr sz="1200" b="0">
                <a:solidFill>
                  <a:srgbClr val="D1D5DB"/>
                </a:solidFill>
                <a:latin typeface="Calibri"/>
              </a:rPr>
              <a:t>▸  Critical internet functions have no geographic redundancy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rPr sz="1200" b="0">
                <a:solidFill>
                  <a:srgbClr val="D1D5DB"/>
                </a:solidFill>
                <a:latin typeface="Calibri"/>
              </a:rPr>
              <a:t>▸  No data sovereignty — governments have zero control over where data lives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rPr sz="1200" b="0">
                <a:solidFill>
                  <a:srgbClr val="D1D5DB"/>
                </a:solidFill>
                <a:latin typeface="Calibri"/>
              </a:rPr>
              <a:t>▸  AI inference requires low latency that centralized facilities cannot serve at the edge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D1D5DB"/>
                </a:solidFill>
                <a:latin typeface="Calibri"/>
              </a:defRPr>
            </a:pPr>
            <a:r>
              <a:rPr sz="1200" b="0">
                <a:solidFill>
                  <a:srgbClr val="D1D5DB"/>
                </a:solidFill>
                <a:latin typeface="Calibri"/>
              </a:rPr>
              <a:t>▸  A single regional disaster could degrade federal, financial, and defense systems simultaneously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$162B in Blocked Projects. The Market Needs an Alternative.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The demand for compute capacity hasn't gone away — the deployment model is what's broken.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4A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The Blocked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029200" cy="182880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rPr sz="1100" b="0">
                <a:solidFill>
                  <a:srgbClr val="D1D5DB"/>
                </a:solidFill>
                <a:latin typeface="Calibri"/>
              </a:rPr>
              <a:t>▸  $162B of announced datacenter projects facing delays or cancellation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rPr sz="1100" b="0">
                <a:solidFill>
                  <a:srgbClr val="D1D5DB"/>
                </a:solidFill>
                <a:latin typeface="Calibri"/>
              </a:rPr>
              <a:t>▸  States including VA, GA, IN, SC imposing moratoriums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rPr sz="1100" b="0">
                <a:solidFill>
                  <a:srgbClr val="D1D5DB"/>
                </a:solidFill>
                <a:latin typeface="Calibri"/>
              </a:rPr>
              <a:t>▸  Environmental impact reviews adding 12-24+ months to timelines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rPr sz="1100" b="0">
                <a:solidFill>
                  <a:srgbClr val="D1D5DB"/>
                </a:solidFill>
                <a:latin typeface="Calibri"/>
              </a:rPr>
              <a:t>▸  Grid interconnection queues extending 3-5+ years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rPr sz="1100" b="0">
                <a:solidFill>
                  <a:srgbClr val="D1D5DB"/>
                </a:solidFill>
                <a:latin typeface="Calibri"/>
              </a:rPr>
              <a:t>▸  Community opposition escalating to state legislation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4A3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Environmental Concerns Are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rPr sz="1100" b="0">
                <a:solidFill>
                  <a:srgbClr val="D1D5DB"/>
                </a:solidFill>
                <a:latin typeface="Calibri"/>
              </a:rPr>
              <a:t>▸  Single hyperscale campus uses 1-5M gallons of water/day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rPr sz="1100" b="0">
                <a:solidFill>
                  <a:srgbClr val="D1D5DB"/>
                </a:solidFill>
                <a:latin typeface="Calibri"/>
              </a:rPr>
              <a:t>▸  Concentrated power demand drives new fossil generation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rPr sz="1100" b="0">
                <a:solidFill>
                  <a:srgbClr val="D1D5DB"/>
                </a:solidFill>
                <a:latin typeface="Calibri"/>
              </a:rPr>
              <a:t>▸  IEA projects DC electricity at 945-1,300 TWh by 2030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0E3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Why Distributed Solves This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5029200" cy="182880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rPr sz="1100" b="0">
                <a:solidFill>
                  <a:srgbClr val="D1D5DB"/>
                </a:solidFill>
                <a:latin typeface="Calibri"/>
              </a:rPr>
              <a:t>▸  Power: &lt;2MW per site works within existing grid — no new generation needed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rPr sz="1100" b="0">
                <a:solidFill>
                  <a:srgbClr val="D1D5DB"/>
                </a:solidFill>
                <a:latin typeface="Calibri"/>
              </a:rPr>
              <a:t>▸  Permitting: Small footprints within cell tower sites bypass permitting battles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rPr sz="1100" b="0">
                <a:solidFill>
                  <a:srgbClr val="D1D5DB"/>
                </a:solidFill>
                <a:latin typeface="Calibri"/>
              </a:rPr>
              <a:t>▸  Water: Direct liquid cooling eliminates evaporative cooling towers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rPr sz="1100" b="0">
                <a:solidFill>
                  <a:srgbClr val="D1D5DB"/>
                </a:solidFill>
                <a:latin typeface="Calibri"/>
              </a:rPr>
              <a:t>▸  Community: Creates local jobs and tax revenue without environmental burden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29768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3891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Data Sovereignty Requires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States are increasingly mandating that government data remain within their borders. Municipalities need local compute for 911, traffic, and utility SCADA. Data sovereignty can only be addressed by local operation — no cloud policy can substitute for physical proximity.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Micro Datacenters at Cellular Tower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Highly dispersed, inference-specific micro datacenters (&lt;2MW each) deployed at existing cellular tower infrastructure — eliminating the permitting, power, and community opposition problems.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60320" cy="10058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&lt;2MW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Per site power draw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60320" cy="10058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01168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60-90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146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To deploy (prefab)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560320" cy="10058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146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New permitting required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828800"/>
            <a:ext cx="2560320" cy="10058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011680"/>
            <a:ext cx="25603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40,000+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514600"/>
            <a:ext cx="2377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Crown Castle tower sites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1752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108960"/>
            <a:ext cx="50292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Crown Castle Agreement: Active discussions to co-locate ANDD micro datacenters at their 40,000+ tower sites across the US. Existing power, connectivity, and site access provide an immediate deployment pipeline.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017520"/>
            <a:ext cx="5394960" cy="8229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6324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Existing Power &amp; Connectivity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91840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Tower sites already have utility power feeds and fiber/microwave backhaul. We scale to the grid capacity that's already there.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931920"/>
            <a:ext cx="5394960" cy="8229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97764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Permitting Risk Eliminated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206240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By staying inside the existing site footprint, we operate under the tower's existing land use permits. No new environmental reviews.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846320"/>
            <a:ext cx="5394960" cy="8229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89204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Geographic Distribution Built-In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120640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Cell towers are sited for population coverage. We inherit a deployment map optimized for proximity to end users.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760720"/>
            <a:ext cx="5394960" cy="8229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80644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AI Native = Lower Operating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6035040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AI handles provisioning, monitoring, billing, and maintenance. 1 human operator per 20-50 sites, not 5-10 humans per site.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WHAT'S NOVEL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An Inference Network, Not Just Datacenters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ANDD is building a commercially scalable network of inference-specific resources that makes AI capacity available like a utility.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281A3A"/>
          </a:solidFill>
          <a:ln w="12700">
            <a:solidFill>
              <a:srgbClr val="2A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AI Model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3108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D1D5DB"/>
                </a:solidFill>
                <a:latin typeface="Calibri"/>
              </a:defRPr>
            </a:pPr>
            <a:r>
              <a:t>Customers access a wide catalog of AI models, LLMs, and agents hosted across the network. Consume inference as a service — no GPU provisioning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0E3A1E"/>
          </a:solidFill>
          <a:ln w="12700">
            <a:solidFill>
              <a:srgbClr val="2A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74519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Elastic Token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108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D1D5DB"/>
                </a:solidFill>
                <a:latin typeface="Calibri"/>
              </a:defRPr>
            </a:pPr>
            <a:r>
              <a:t>Customers purchase AI token capacity on-demand. The network routes to available GPUs across the mesh automatically — no capacity planning.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 w="12700">
            <a:solidFill>
              <a:srgbClr val="2A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Edge-Native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108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D1D5DB"/>
                </a:solidFill>
                <a:latin typeface="Calibri"/>
              </a:defRPr>
            </a:pPr>
            <a:r>
              <a:t>Sub-10ms latency for real-time applications: autonomous vehicles, medical devices, industrial control, fraud detection.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Five Things That Make ANDD Different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5943600" cy="274320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Aft>
                <a:spcPts val="400"/>
              </a:spcAft>
            </a:pPr>
            <a:r>
              <a:rPr sz="1300" b="1">
                <a:solidFill>
                  <a:srgbClr val="60A5FA"/>
                </a:solidFill>
                <a:latin typeface="Calibri"/>
              </a:rPr>
              <a:t>1.  </a:t>
            </a:r>
            <a:r>
              <a:rPr sz="1200">
                <a:solidFill>
                  <a:srgbClr val="D1D5DB"/>
                </a:solidFill>
                <a:latin typeface="Calibri"/>
              </a:rPr>
              <a:t>Cell tower co-location — 40,000+ sites, existing permits, existing power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60A5FA"/>
                </a:solidFill>
                <a:latin typeface="Calibri"/>
              </a:rPr>
              <a:t>2.  </a:t>
            </a:r>
            <a:r>
              <a:rPr sz="1200">
                <a:solidFill>
                  <a:srgbClr val="D1D5DB"/>
                </a:solidFill>
                <a:latin typeface="Calibri"/>
              </a:rPr>
              <a:t>&lt;2MW per site — fits within current grid, no new generation needed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60A5FA"/>
                </a:solidFill>
                <a:latin typeface="Calibri"/>
              </a:rPr>
              <a:t>3.  </a:t>
            </a:r>
            <a:r>
              <a:rPr sz="1200">
                <a:solidFill>
                  <a:srgbClr val="D1D5DB"/>
                </a:solidFill>
                <a:latin typeface="Calibri"/>
              </a:rPr>
              <a:t>AI-native operations — 95%+ of ops automated, 60-75% lower staffing costs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60A5FA"/>
                </a:solidFill>
                <a:latin typeface="Calibri"/>
              </a:rPr>
              <a:t>4.  </a:t>
            </a:r>
            <a:r>
              <a:rPr sz="1200">
                <a:solidFill>
                  <a:srgbClr val="D1D5DB"/>
                </a:solidFill>
                <a:latin typeface="Calibri"/>
              </a:rPr>
              <a:t>Inference-specific hardware — optimized for the 60-70% of AI compute that is inference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60A5FA"/>
                </a:solidFill>
                <a:latin typeface="Calibri"/>
              </a:rPr>
              <a:t>5.  </a:t>
            </a:r>
            <a:r>
              <a:rPr sz="1200">
                <a:solidFill>
                  <a:srgbClr val="D1D5DB"/>
                </a:solidFill>
                <a:latin typeface="Calibri"/>
              </a:rPr>
              <a:t>Network mesh fabric — nodes cooperate, workloads route to optimal location automatically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383280"/>
            <a:ext cx="4754880" cy="256032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0E3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3474720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The Business Moat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794760"/>
            <a:ext cx="43891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D1D5DB"/>
                </a:solidFill>
                <a:latin typeface="Calibri"/>
              </a:defRPr>
            </a:pPr>
            <a:r>
              <a:t>Every new site makes the network more valuable.</a:t>
            </a:r>
            <a:br/>
            <a:br/>
            <a:r>
              <a:t>▸  More locations = lower latency for more customers</a:t>
            </a:r>
            <a:br/>
            <a:r>
              <a:t>▸  More coverage = more addressable market</a:t>
            </a:r>
            <a:br/>
            <a:r>
              <a:t>▸  More data = better AI capacity planning</a:t>
            </a:r>
            <a:br/>
            <a:r>
              <a:t>▸  More nodes = higher network-wide utilization</a:t>
            </a:r>
            <a:br/>
            <a:br/>
            <a:r>
              <a:t>This is a network effect business, not a real estate business.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Who Buys Edge AI Inference Capacity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611880" cy="16916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246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AI / ML Companies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Companies deploying AI models needing low-latency inference close to end users. LLM providers, computer vision, NLP, AI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Buy token capacity and GPU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280160"/>
            <a:ext cx="3611880" cy="16916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371600"/>
            <a:ext cx="3246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Government (Fed/State/Local)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645920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Data sovereignty, FedRAMP workloads, NG911, FirstNet, CJIS, defense-adjacent processing.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Multi-year contracts, premium pricing.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280160"/>
            <a:ext cx="3611880" cy="16916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371600"/>
            <a:ext cx="3246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Healthcare &amp; Telemedicine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645920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HIPAA-compliant edge compute for medical imaging AI, remote diagnostics, patient data processing.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37744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Data must stay local, latency is life-critical.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3611880" cy="16916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91840"/>
            <a:ext cx="3246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Financial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66160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Fraud detection (sub-50ms), payment processing, data residency. Regional banks and fintech.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High-value, SLA-sensitive.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200400"/>
            <a:ext cx="3611880" cy="16916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3291840"/>
            <a:ext cx="3246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Autonomous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566160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V2X for autonomous vehicles, drone coordination, industrial robotics. Sub-10ms inference required.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29768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Growing rapidly, no alternative to edge.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3200400"/>
            <a:ext cx="3611880" cy="16916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3291840"/>
            <a:ext cx="3246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Web3 / DePIN Projects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566160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Enterprise-grade infra for decentralized networks. Validator hosting, compute marketplace, settlement.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297680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Pay-per-use via crypto micro-transactions.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166360"/>
            <a:ext cx="3611880" cy="10058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611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$500B+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Edge computing TAM by 2030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5166360"/>
            <a:ext cx="3611880" cy="10058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5349240"/>
            <a:ext cx="3611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60-70%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852160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Of all AI compute is inference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5166360"/>
            <a:ext cx="3611880" cy="10058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5349240"/>
            <a:ext cx="3611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$25B+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852160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DePIN infrastructure market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Keys to Success &amp;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394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Keys to Success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Speed to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5120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Prefab modular units deploy in 60-90 days vs. 18-24 months. Cell tower sites provide 40,000+ pre-validated locations. Target: 3-5 sites Year 1, 50 by Year 2, 300 by Year 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Cost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5120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AI-native operations cut staffing from $400K+/yr to $80-150K/yr per site. Power scales to existing grid — no infrastructure buildout premiums.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8620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Compute Fill at Premium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5120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Inference-specific positioning commands premium pricing. AI capacity planning ensures utilization by routing workloads across the mesh to fill available capacity.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2920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07492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Offtake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03520"/>
            <a:ext cx="5120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Government contracts (3-5 yr, premium rates) provide base revenue. AI companies and healthcare provide volume. Multi-rail revenue diversifies concentration risk.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234440"/>
            <a:ext cx="5394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Key Risks &amp; Mitigations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0020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4592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Crown Castle Partnership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1673352"/>
            <a:ext cx="822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1">
                <a:solidFill>
                  <a:srgbClr val="F59E0B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74520"/>
            <a:ext cx="5120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Agreement may not materialize. Mitigation: Cell towers are one channel — can co-locate at industrial parks, substations, ISP POPs. Multiple site strategies in parallel.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74320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78892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Utilization / Fill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2816352"/>
            <a:ext cx="822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1">
                <a:solidFill>
                  <a:srgbClr val="F59E0B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017520"/>
            <a:ext cx="5120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Sites may not reach target utilization fast enough. Mitigation: AI demand modeling drives site selection. Government anchor tenants provide base load.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88620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93192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Technology 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3959352"/>
            <a:ext cx="822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1">
                <a:solidFill>
                  <a:srgbClr val="22C55E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160520"/>
            <a:ext cx="5120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AI management layer may not achieve target autonomy. Mitigation: Each component is proven tech. Innovation is integration. Graduated rollout with human fallback.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5029200"/>
            <a:ext cx="5394960" cy="105156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07492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Competition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5102352"/>
            <a:ext cx="822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1">
                <a:solidFill>
                  <a:srgbClr val="22C55E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303520"/>
            <a:ext cx="51206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Hyperscalers could replicate. Mitigation: Sub-2MW is structurally unattractive for them. Previous edge attempts failed on economics that AI ops now solve.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What It Costs: Per-Site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394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Capital Expenditure (Per 200kW Edge Node)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94960" cy="29260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201168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Aft>
                <a:spcPts val="3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Modular enclosure + site prep</a:t>
            </a:r>
            <a:r>
              <a:rPr sz="1100" b="1">
                <a:solidFill>
                  <a:srgbClr val="E2E8F0"/>
                </a:solidFill>
                <a:latin typeface="Calibri"/>
              </a:rPr>
              <a:t>    $300K-$500K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Compute &amp; GPU hardware (4-8 racks)</a:t>
            </a:r>
            <a:r>
              <a:rPr sz="1100" b="1">
                <a:solidFill>
                  <a:srgbClr val="E2E8F0"/>
                </a:solidFill>
                <a:latin typeface="Calibri"/>
              </a:rPr>
              <a:t>    $600K-$1.0M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Networking (switches, backhaul)</a:t>
            </a:r>
            <a:r>
              <a:rPr sz="1100" b="1">
                <a:solidFill>
                  <a:srgbClr val="E2E8F0"/>
                </a:solidFill>
                <a:latin typeface="Calibri"/>
              </a:rPr>
              <a:t>    $100K-$200K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Power (UPS, PDU, switchgear)</a:t>
            </a:r>
            <a:r>
              <a:rPr sz="1100" b="1">
                <a:solidFill>
                  <a:srgbClr val="E2E8F0"/>
                </a:solidFill>
                <a:latin typeface="Calibri"/>
              </a:rPr>
              <a:t>    $150K-$250K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Cooling (DLC + ambient)</a:t>
            </a:r>
            <a:r>
              <a:rPr sz="1100" b="1">
                <a:solidFill>
                  <a:srgbClr val="E2E8F0"/>
                </a:solidFill>
                <a:latin typeface="Calibri"/>
              </a:rPr>
              <a:t>    $100K-$150K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Security, fire suppression, misc</a:t>
            </a:r>
            <a:r>
              <a:rPr sz="1100" b="1">
                <a:solidFill>
                  <a:srgbClr val="E2E8F0"/>
                </a:solidFill>
                <a:latin typeface="Calibri"/>
              </a:rPr>
              <a:t>    $50K-$100K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E2E8F0"/>
                </a:solidFill>
                <a:latin typeface="Calibri"/>
              </a:rPr>
              <a:t>Total CapEx per node    </a:t>
            </a:r>
            <a:r>
              <a:rPr sz="1400" b="1">
                <a:solidFill>
                  <a:srgbClr val="60A5FA"/>
                </a:solidFill>
                <a:latin typeface="Calibri"/>
              </a:rPr>
              <a:t>$1.5M - $2.5M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0E3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CapEx Offsets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5029200" cy="118872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rPr sz="1000" b="0">
                <a:solidFill>
                  <a:srgbClr val="D1D5DB"/>
                </a:solidFill>
                <a:latin typeface="Calibri"/>
              </a:rPr>
              <a:t>▸  On-site solar (100kW): ~$150K installed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rPr sz="1000" b="0">
                <a:solidFill>
                  <a:srgbClr val="D1D5DB"/>
                </a:solidFill>
                <a:latin typeface="Calibri"/>
              </a:rPr>
              <a:t>▸  Battery storage (500kWh): ~$200K installed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rPr sz="1000" b="0">
                <a:solidFill>
                  <a:srgbClr val="D1D5DB"/>
                </a:solidFill>
                <a:latin typeface="Calibri"/>
              </a:rPr>
              <a:t>▸  IRA ITC credit (30-50%): -$105K to -$175K savings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rPr sz="1000" b="0">
                <a:solidFill>
                  <a:srgbClr val="D1D5DB"/>
                </a:solidFill>
                <a:latin typeface="Calibri"/>
              </a:rPr>
              <a:t>▸  OZ tax benefits: Significant additional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5394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Annual Operating Expenses (Per Node)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394960" cy="29260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60A5FA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6002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60A5FA"/>
                </a:solidFill>
                <a:latin typeface="Calibri"/>
              </a:defRPr>
            </a:pPr>
            <a:r>
              <a:t>Traditional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1600200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60A5FA"/>
                </a:solidFill>
                <a:latin typeface="Calibri"/>
              </a:defRPr>
            </a:pPr>
            <a:r>
              <a:t>ANDD AI-Native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19"/>
            <a:ext cx="1828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Staffing /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874519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$400K+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874519"/>
            <a:ext cx="15544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22C55E"/>
                </a:solidFill>
                <a:latin typeface="Calibri"/>
              </a:defRPr>
            </a:pPr>
            <a:r>
              <a:t>$80K-$150K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59"/>
            <a:ext cx="1828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Power (@ $0.08/kWh)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194559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D1D5DB"/>
                </a:solidFill>
                <a:latin typeface="Calibri"/>
              </a:defRPr>
            </a:pPr>
            <a:r>
              <a:t>$140K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194559"/>
            <a:ext cx="15544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D1D5DB"/>
                </a:solidFill>
                <a:latin typeface="Calibri"/>
              </a:defRPr>
            </a:pPr>
            <a:r>
              <a:t>$140K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14599"/>
            <a:ext cx="1828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Connectivity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514599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D1D5DB"/>
                </a:solidFill>
                <a:latin typeface="Calibri"/>
              </a:defRPr>
            </a:pPr>
            <a:r>
              <a:t>$100K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514599"/>
            <a:ext cx="15544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D1D5DB"/>
                </a:solidFill>
                <a:latin typeface="Calibri"/>
              </a:defRPr>
            </a:pPr>
            <a:r>
              <a:t>$60K-$120K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34639"/>
            <a:ext cx="1828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Site lease / co-lo fee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834639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D1D5DB"/>
                </a:solidFill>
                <a:latin typeface="Calibri"/>
              </a:defRPr>
            </a:pPr>
            <a:r>
              <a:t>$50K-$100K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834639"/>
            <a:ext cx="15544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D1D5DB"/>
                </a:solidFill>
                <a:latin typeface="Calibri"/>
              </a:defRPr>
            </a:pPr>
            <a:r>
              <a:t>$50K-$100K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154679"/>
            <a:ext cx="1828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Insurance, maintenance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154679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D1D5DB"/>
                </a:solidFill>
                <a:latin typeface="Calibri"/>
              </a:defRPr>
            </a:pPr>
            <a:r>
              <a:t>$50K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154679"/>
            <a:ext cx="15544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D1D5DB"/>
                </a:solidFill>
                <a:latin typeface="Calibri"/>
              </a:defRPr>
            </a:pPr>
            <a:r>
              <a:t>$30K-$50K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611879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Total Annual OpEx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611879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$740K+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611879"/>
            <a:ext cx="1554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$360K-$560K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66344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75488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The AI Operations Advantage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029200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D1D5DB"/>
                </a:solidFill>
                <a:latin typeface="Calibri"/>
              </a:defRPr>
            </a:pPr>
            <a:r>
              <a:t>Traditional model: sub-2MW sites are margin-negative. Staffing costs alone consume most revenue.</a:t>
            </a:r>
            <a:br/>
            <a:br/>
            <a:r>
              <a:t>ANDD model: AI automation cuts operating costs by 40-55%, making 200kW sites margin-positive for the first time in the industry.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FINANCIAL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Return on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94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Per-Node Revenue Model (200kW, at target utilization)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029200" cy="182880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Aft>
                <a:spcPts val="4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AI inference (GPU hours, token capacity)</a:t>
            </a:r>
            <a:r>
              <a:rPr sz="1100" b="1">
                <a:solidFill>
                  <a:srgbClr val="E2E8F0"/>
                </a:solidFill>
                <a:latin typeface="Calibri"/>
              </a:rPr>
              <a:t>    $350K-$600K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Compute &amp; colocation (enterprise, gov)</a:t>
            </a:r>
            <a:r>
              <a:rPr sz="1100" b="1">
                <a:solidFill>
                  <a:srgbClr val="E2E8F0"/>
                </a:solidFill>
                <a:latin typeface="Calibri"/>
              </a:rPr>
              <a:t>    $100K-$250K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Storage &amp; CDN services</a:t>
            </a:r>
            <a:r>
              <a:rPr sz="1100" b="1">
                <a:solidFill>
                  <a:srgbClr val="E2E8F0"/>
                </a:solidFill>
                <a:latin typeface="Calibri"/>
              </a:rPr>
              <a:t>    $30K-$80K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DePIN / Web3 hosting</a:t>
            </a:r>
            <a:r>
              <a:rPr sz="1100" b="1">
                <a:solidFill>
                  <a:srgbClr val="E2E8F0"/>
                </a:solidFill>
                <a:latin typeface="Calibri"/>
              </a:rPr>
              <a:t>    $20K-$70K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D1D5DB"/>
                </a:solidFill>
                <a:latin typeface="Calibri"/>
              </a:rPr>
              <a:t>Grid services (BESS demand response)</a:t>
            </a:r>
            <a:r>
              <a:rPr sz="1100" b="1">
                <a:solidFill>
                  <a:srgbClr val="E2E8F0"/>
                </a:solidFill>
                <a:latin typeface="Calibri"/>
              </a:rPr>
              <a:t>    $50K-$150K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E2E8F0"/>
                </a:solidFill>
                <a:latin typeface="Calibri"/>
              </a:rPr>
              <a:t>Total Annual Revenue    </a:t>
            </a:r>
            <a:r>
              <a:rPr sz="1400" b="1">
                <a:solidFill>
                  <a:srgbClr val="22C55E"/>
                </a:solidFill>
                <a:latin typeface="Calibri"/>
              </a:rPr>
              <a:t>$550K - $1.15M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0E3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Ramp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5029200" cy="100584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Aft>
                <a:spcPts val="300"/>
              </a:spcAft>
            </a:pPr>
            <a:r>
              <a:rPr sz="1100" b="1">
                <a:solidFill>
                  <a:srgbClr val="E2E8F0"/>
                </a:solidFill>
                <a:latin typeface="Calibri"/>
              </a:rPr>
              <a:t>Year 1:  </a:t>
            </a:r>
            <a:r>
              <a:rPr sz="1100">
                <a:solidFill>
                  <a:srgbClr val="D1D5DB"/>
                </a:solidFill>
                <a:latin typeface="Calibri"/>
              </a:rPr>
              <a:t>30-40% utilization  →  Covers OpEx + partial CapEx service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E2E8F0"/>
                </a:solidFill>
                <a:latin typeface="Calibri"/>
              </a:rPr>
              <a:t>Year 2:  </a:t>
            </a:r>
            <a:r>
              <a:rPr sz="1100">
                <a:solidFill>
                  <a:srgbClr val="D1D5DB"/>
                </a:solidFill>
                <a:latin typeface="Calibri"/>
              </a:rPr>
              <a:t>50-65% utilization  →  Cash-flow positive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E2E8F0"/>
                </a:solidFill>
                <a:latin typeface="Calibri"/>
              </a:rPr>
              <a:t>Year 3+:  </a:t>
            </a:r>
            <a:r>
              <a:rPr sz="1100">
                <a:solidFill>
                  <a:srgbClr val="D1D5DB"/>
                </a:solidFill>
                <a:latin typeface="Calibri"/>
              </a:rPr>
              <a:t>70-85% utilization  →  Full margin realization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Investment Returns 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2514600" cy="10058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2514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30-45%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Gross Margin</a:t>
            </a:r>
            <a:br/>
            <a:r>
              <a:t>(at target util.)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554480"/>
            <a:ext cx="2514600" cy="10058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737360"/>
            <a:ext cx="2514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2.5-4 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24028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CapEx Payback</a:t>
            </a:r>
            <a:br/>
            <a:r>
              <a:t>(per node)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743200"/>
            <a:ext cx="2514600" cy="10058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926080"/>
            <a:ext cx="2514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18-30%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2900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Unlevered IRR</a:t>
            </a:r>
            <a:br/>
            <a:r>
              <a:t>(10-yr hold)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743200"/>
            <a:ext cx="2514600" cy="100584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926080"/>
            <a:ext cx="2514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42900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Federal Cap Gains</a:t>
            </a:r>
            <a:br/>
            <a:r>
              <a:t>(10-yr OZ hold)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Opportunity Zone Tax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9768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rPr sz="1000" b="0">
                <a:solidFill>
                  <a:srgbClr val="D1D5DB"/>
                </a:solidFill>
                <a:latin typeface="Calibri"/>
              </a:rPr>
              <a:t>▸  Deferral: Capital gains reinvested into QOF defer tax obligation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rPr sz="1000" b="0">
                <a:solidFill>
                  <a:srgbClr val="D1D5DB"/>
                </a:solidFill>
                <a:latin typeface="Calibri"/>
              </a:rPr>
              <a:t>▸  Step-up: 10% basis step-up at 5 years (up to 30% for rural OZ)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rPr sz="1000" b="0">
                <a:solidFill>
                  <a:srgbClr val="D1D5DB"/>
                </a:solidFill>
                <a:latin typeface="Calibri"/>
              </a:rPr>
              <a:t>▸  Exclusion: Zero capital gains tax on all appreciation after 10 years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rPr sz="1000" b="0">
                <a:solidFill>
                  <a:srgbClr val="D1D5DB"/>
                </a:solidFill>
                <a:latin typeface="Calibri"/>
              </a:rPr>
              <a:t>▸  IRA credits: 30-50% ITC on solar/BESS further reduces effective cost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897880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943600"/>
            <a:ext cx="5029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Network Scale: Unit economics improve with scale — shared AI ops amortized across nodes, bandwidth purchasing power improves, mesh routing enables higher network-wide utilization.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SCALE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Path to Scale: Network Buildout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697480" cy="438912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60A5FA"/>
                </a:solidFill>
                <a:latin typeface="Calibri"/>
              </a:defRPr>
            </a:pPr>
            <a:r>
              <a:t>Phase 1 —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D1D5DB"/>
                </a:solidFill>
                <a:latin typeface="Calibri"/>
              </a:defRPr>
            </a:pPr>
            <a:r>
              <a:t>Months 1-12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423160" cy="228600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3-5 pilot sites at Crown Castle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AI ops platform v1 operational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Beta customers (gov, AI, health)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SOC 2 Type I certification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QOF structure established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2697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60A5FA"/>
                </a:solidFill>
                <a:latin typeface="Calibri"/>
              </a:defRPr>
            </a:pPr>
            <a:r>
              <a:t>$8-15M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2697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Capital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234440"/>
            <a:ext cx="2697480" cy="438912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28016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60A5FA"/>
                </a:solidFill>
                <a:latin typeface="Calibri"/>
              </a:defRPr>
            </a:pPr>
            <a:r>
              <a:t>Phase 2 — 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5087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D1D5DB"/>
                </a:solidFill>
                <a:latin typeface="Calibri"/>
              </a:defRPr>
            </a:pPr>
            <a:r>
              <a:t>Months 12-24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737360"/>
            <a:ext cx="2423160" cy="228600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20-50 nodes in regional clusters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2-3 regional hubs deployed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First government contracts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AI handles &gt;90% of ops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FedRAMP Moderate authorization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297680"/>
            <a:ext cx="2697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60A5FA"/>
                </a:solidFill>
                <a:latin typeface="Calibri"/>
              </a:defRPr>
            </a:pPr>
            <a:r>
              <a:t>$40-100M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663440"/>
            <a:ext cx="2697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Capital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34440"/>
            <a:ext cx="2697480" cy="438912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28016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60A5FA"/>
                </a:solidFill>
                <a:latin typeface="Calibri"/>
              </a:defRPr>
            </a:pPr>
            <a:r>
              <a:t>Phase 3 —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5087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D1D5DB"/>
                </a:solidFill>
                <a:latin typeface="Calibri"/>
              </a:defRPr>
            </a:pPr>
            <a:r>
              <a:t>Months 24-48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737360"/>
            <a:ext cx="2423160" cy="228600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100-300 nodes, 10+ hubs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Full mesh fabric operational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Federal government customers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AI model marketplace live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Cash-flow positive (network)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2697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60A5FA"/>
                </a:solidFill>
                <a:latin typeface="Calibri"/>
              </a:defRPr>
            </a:pPr>
            <a:r>
              <a:t>$200-600M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2697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Capital Required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234440"/>
            <a:ext cx="2697480" cy="438912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28016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60A5FA"/>
                </a:solidFill>
                <a:latin typeface="Calibri"/>
              </a:defRPr>
            </a:pPr>
            <a:r>
              <a:t>Phase 4 — Dominate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150876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D1D5DB"/>
                </a:solidFill>
                <a:latin typeface="Calibri"/>
              </a:defRPr>
            </a:pPr>
            <a:r>
              <a:t>Months 48-72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37360"/>
            <a:ext cx="2423160" cy="2286000"/>
          </a:xfrm>
          <a:prstGeom prst="rect">
            <a:avLst/>
          </a:prstGeom>
          <a:noFill/>
        </p:spPr>
        <p:txBody>
          <a:bodyPr wrap="square"/>
          <a:lstStyle/>
          <a:p/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500-1,000+ nodes nationwide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Revenue funds growth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International expansion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Critical national infrastructure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D1D5DB"/>
                </a:solidFill>
                <a:latin typeface="Calibri"/>
              </a:defRPr>
            </a:pPr>
            <a:r>
              <a:rPr sz="900" b="0">
                <a:solidFill>
                  <a:srgbClr val="D1D5DB"/>
                </a:solidFill>
                <a:latin typeface="Calibri"/>
              </a:rPr>
              <a:t>▸  VPP grid services at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297680"/>
            <a:ext cx="2697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2C55E"/>
                </a:solidFill>
                <a:latin typeface="Calibri"/>
              </a:defRPr>
            </a:pPr>
            <a:r>
              <a:t>Self-Funding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663440"/>
            <a:ext cx="26974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Revenue-Funded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760720"/>
            <a:ext cx="3611880" cy="8686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943600"/>
            <a:ext cx="3611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$2.5M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46520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Avg CapEx per node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5760720"/>
            <a:ext cx="3611880" cy="8686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5943600"/>
            <a:ext cx="3611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60-90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6446520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Deploy time (prefab)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5760720"/>
            <a:ext cx="3611880" cy="8686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5943600"/>
            <a:ext cx="3611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40,000+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6446520"/>
            <a:ext cx="3429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Available tower sites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The Team Building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94960" cy="484632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49377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E2E8F0"/>
                </a:solidFill>
                <a:latin typeface="Calibri"/>
              </a:defRPr>
            </a:pPr>
            <a:r>
              <a:t>Founding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9377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Building ANDD requires expertise across datacenter infrastructure, AI/ML systems, telecommunications, real estate development, federal compliance, and financial structuring.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D1D5DB"/>
                </a:solidFill>
                <a:latin typeface="Calibri"/>
              </a:defRPr>
            </a:pPr>
            <a:r>
              <a:t>CEO / Visionary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74320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Strategy, investor relations, partnerships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D1D5DB"/>
                </a:solidFill>
                <a:latin typeface="Calibri"/>
              </a:defRPr>
            </a:pPr>
            <a:r>
              <a:t>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10896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AI ops platform, infrastructure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D1D5DB"/>
                </a:solidFill>
                <a:latin typeface="Calibri"/>
              </a:defRPr>
            </a:pPr>
            <a:r>
              <a:t>VP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47472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Site buildout, hardware, power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D1D5DB"/>
                </a:solidFill>
                <a:latin typeface="Calibri"/>
              </a:defRPr>
            </a:pPr>
            <a:r>
              <a:t>VP Sales / 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84048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Government contracts, enterprise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0624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D1D5DB"/>
                </a:solidFill>
                <a:latin typeface="Calibri"/>
              </a:defRPr>
            </a:pPr>
            <a:r>
              <a:t>CFO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0624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QOF structure, capital markets, financial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234440"/>
            <a:ext cx="5394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What the Team Must Excel 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55448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0020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Deals &amp; Partnerships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2880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Crown Castle agreement. Utility interconnections. Government contract vehicles. OZ fund structure. Execution-dependent relationships requiring experienced operators.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74320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78892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AI Operations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01752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The AI management layer is the core differentiator. Deep ML/AI engineering to build the autonomous ops platform that makes the economics 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3192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97764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Datacenter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0624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Prefab deployment, power systems, cooling, physical security, compliance certifications. Proven operators who have built and run facilities.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12064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16636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Government &amp;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94960"/>
            <a:ext cx="51206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FedRAMP, SOC 2, HIPAA, CJIS, ITAR. Government procurement, security clearances, and patience for federal sales cycles.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45720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E2E8F0"/>
                </a:solidFill>
                <a:latin typeface="Calibri"/>
              </a:defRPr>
            </a:pPr>
            <a:r>
              <a:t>The Compute Market Needs a New Model.</a:t>
            </a:r>
            <a:br/>
            <a:r>
              <a:t>This Is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418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$162B in blocked datacenter projects. Exploding AI inference demand. States pushing back on hyperscale.</a:t>
            </a:r>
            <a:br/>
            <a:r>
              <a:t>ANDD delivers the compute capacity the market needs — without the problems.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74320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&lt;2MW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2900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Fits existing grid</a:t>
            </a:r>
            <a:br/>
            <a:r>
              <a:t>No pushback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274320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92608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AI Native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42900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60-75% lower ops cost</a:t>
            </a:r>
            <a:br/>
            <a:r>
              <a:t>Margin-positive at 200kW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92608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40K+ 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2900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Crown Castle pipeline</a:t>
            </a:r>
            <a:br/>
            <a:r>
              <a:t>Pre-permitted locations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74320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92608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0% Tax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429000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On appreciation</a:t>
            </a:r>
            <a:br/>
            <a:r>
              <a:t>10-year OZ 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11480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160520"/>
            <a:ext cx="2651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Revenue from Year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8912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Infrastructure services generate income immediately upon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411480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160520"/>
            <a:ext cx="2651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Network Appreciation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38912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Each new node increases the value of every existing node in the mesh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411480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6244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4160520"/>
            <a:ext cx="2651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National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38912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Sovereign infrastructure, local jobs, and AI capacity for underserved communities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03520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Email</a:t>
            </a:r>
            <a:br/>
            <a:r>
              <a:t>contact@andd.network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03520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Web</a:t>
            </a:r>
            <a:br/>
            <a:r>
              <a:t>andd.network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CONFIDENTIAL — DO NOT DISTRIBUTE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