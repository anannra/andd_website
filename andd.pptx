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0287000" cx="18288000"/>
  <p:notesSz cx="10287000" cy="18288000"/>
  <p:embeddedFontLst>
    <p:embeddedFont>
      <p:font typeface="Inter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paceGrotesk-regular.fntdata"/><Relationship Id="rId25" Type="http://schemas.openxmlformats.org/officeDocument/2006/relationships/font" Target="fonts/JetBrainsMono-boldItalic.fntdata"/><Relationship Id="rId27" Type="http://schemas.openxmlformats.org/officeDocument/2006/relationships/font" Target="fonts/SpaceGrotes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1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847800" y="129600"/>
            <a:ext cx="579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485000" y="169560"/>
            <a:ext cx="17460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717190" y="167173"/>
            <a:ext cx="2777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7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AI-NATIVE DISTRIBUTED DATACENTERS</a:t>
            </a:r>
            <a:endParaRPr b="0" sz="99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" y="1864080"/>
            <a:ext cx="386856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BUSINESS OVERVIEW · APRIL 2026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800" y="2241360"/>
            <a:ext cx="8715240" cy="3512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8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6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fabric </a:t>
            </a:r>
            <a:r>
              <a:rPr b="0" lang="en-US" sz="816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beneath </a:t>
            </a:r>
            <a:r>
              <a:rPr b="0" lang="en-US" sz="816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next internet.</a:t>
            </a:r>
            <a:endParaRPr b="0" sz="81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800" y="5982480"/>
            <a:ext cx="6932160" cy="1040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 commercially scalable network of inference-specific micro datacenters — delivering AI models, agents, and on-demand token capacity at the edge.</a:t>
            </a:r>
            <a:endParaRPr b="0" sz="19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9124" y="1000499"/>
            <a:ext cx="6739802" cy="673980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685800" y="7969680"/>
            <a:ext cx="16916040" cy="135792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3360" y="7977240"/>
            <a:ext cx="421776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60120" y="8205840"/>
            <a:ext cx="379476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BLOCKED DATACENTER PROJECTS</a:t>
            </a:r>
            <a:endParaRPr b="0" sz="10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60120" y="84229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$162 </a:t>
            </a:r>
            <a:r>
              <a:rPr b="0" lang="en-US" sz="14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B</a:t>
            </a:r>
            <a:endParaRPr b="0" sz="14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60120" y="8918280"/>
            <a:ext cx="379476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Industry's deployment wall — our opening</a:t>
            </a:r>
            <a:endParaRPr b="0" sz="11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921200" y="7977240"/>
            <a:ext cx="421776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187960" y="8205840"/>
            <a:ext cx="379476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PER-SITE FOOTPRINT</a:t>
            </a:r>
            <a:endParaRPr b="0" sz="10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187960" y="84229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&lt;2 </a:t>
            </a:r>
            <a:r>
              <a:rPr b="0" lang="en-US" sz="14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MW</a:t>
            </a:r>
            <a:endParaRPr b="0" sz="14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187960" y="8918280"/>
            <a:ext cx="379476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Fits within existing grid; no new generation</a:t>
            </a:r>
            <a:endParaRPr b="0" sz="11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148680" y="7977240"/>
            <a:ext cx="421776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9415440" y="8205840"/>
            <a:ext cx="379476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OPERATIONS</a:t>
            </a:r>
            <a:endParaRPr b="0" sz="10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415440" y="84229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Native</a:t>
            </a:r>
            <a:endParaRPr b="0" sz="310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9415440" y="8918280"/>
            <a:ext cx="379476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1 operator per 20–50 sites</a:t>
            </a:r>
            <a:endParaRPr b="0" sz="11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3376520" y="7977240"/>
            <a:ext cx="421776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3643280" y="8205840"/>
            <a:ext cx="379476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CROWN CASTLE PIPELINE</a:t>
            </a:r>
            <a:endParaRPr b="0" sz="10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3643280" y="84229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40 </a:t>
            </a:r>
            <a:r>
              <a:rPr b="0" lang="en-US" sz="14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K+</a:t>
            </a:r>
            <a:endParaRPr b="0" sz="14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3643280" y="8918280"/>
            <a:ext cx="379476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Pre-permitted tower locations</a:t>
            </a:r>
            <a:endParaRPr b="0" sz="11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85800" y="10020240"/>
            <a:ext cx="15984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01 / 13 · TITLE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8680" y="169560"/>
            <a:ext cx="204948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THE OPPORTUNITY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THE OPPORTUNITY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85800" y="1520275"/>
            <a:ext cx="161004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compute market needs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new model. </a:t>
            </a: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is it.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85800" y="3847320"/>
            <a:ext cx="11343600" cy="706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$162B in blocked datacenter projects. Exploding AI inference demand. States pushing back on hyperscale. ANDD delivers the capacity — without the problems.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5800" y="5297040"/>
            <a:ext cx="16916040" cy="180756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3360" y="5304600"/>
            <a:ext cx="4217760" cy="1792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979200" y="5486400"/>
            <a:ext cx="3755520" cy="269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&lt;2MW FITS EXISTING GRID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979200" y="5851440"/>
            <a:ext cx="375552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4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grid strain</a:t>
            </a:r>
            <a:endParaRPr b="0" sz="25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79200" y="6373440"/>
            <a:ext cx="375552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1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Low power, no pushback, no new generation needed.</a:t>
            </a:r>
            <a:endParaRPr b="0" sz="161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921200" y="5304600"/>
            <a:ext cx="4217760" cy="1792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206680" y="5486400"/>
            <a:ext cx="3755520" cy="269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40K+ TOWER SITES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206680" y="5851440"/>
            <a:ext cx="375552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4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Pre-permitted</a:t>
            </a:r>
            <a:endParaRPr b="0" sz="25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206680" y="6373440"/>
            <a:ext cx="375552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Crown Castle pipeline. Fabric link + scale compute.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9148680" y="5304600"/>
            <a:ext cx="4217760" cy="1792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9434520" y="5486400"/>
            <a:ext cx="3755520" cy="269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6041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AI-NATIVE OPERATIONS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434520" y="5851440"/>
            <a:ext cx="375552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4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60–75% lower opex</a:t>
            </a:r>
            <a:endParaRPr b="0" sz="25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434520" y="6373440"/>
            <a:ext cx="375552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Margin-positive at 350kW. Opex minimized.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3376520" y="5304600"/>
            <a:ext cx="4217760" cy="1792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3662360" y="5486400"/>
            <a:ext cx="3755520" cy="269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0% CAPITAL GAINS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3662360" y="5851440"/>
            <a:ext cx="375552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4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10-yr OZ hold</a:t>
            </a:r>
            <a:endParaRPr b="0" sz="25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3662360" y="6373440"/>
            <a:ext cx="375552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Appreciation tax-free on qualified sites.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85800" y="7581175"/>
            <a:ext cx="42177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REVENUE FROM YEAR 1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85800" y="7993694"/>
            <a:ext cx="4217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8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Infrastructure services generate income immediately on deployment.</a:t>
            </a:r>
            <a:endParaRPr b="0" sz="158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787423" y="7599925"/>
            <a:ext cx="5546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NETWORK APPRECIATION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787413" y="8012453"/>
            <a:ext cx="61275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Every new node increases the value of every existing node in the mesh.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2437895" y="7581175"/>
            <a:ext cx="5546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NATIONAL IMPACT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2437895" y="7993735"/>
            <a:ext cx="55461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8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Sovereign infrastructure, local jobs, AI capacity for underserved communities.</a:t>
            </a:r>
            <a:endParaRPr b="0" sz="158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85800" y="10020240"/>
            <a:ext cx="21060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02 / 13 · OPPORTUNITY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5487560" y="10020240"/>
            <a:ext cx="21906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CONTACT@ANDD.AI · ANDD.AI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6023240" y="169560"/>
            <a:ext cx="165456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THE PROBLEM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THE PROBLEM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5800" y="1520280"/>
            <a:ext cx="14401800" cy="1436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datacenter industry </a:t>
            </a: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 hit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wall.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5800" y="3147840"/>
            <a:ext cx="11343600" cy="706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Massive campuses face unprecedented opposition while AI inference demand explodes. The industry needs a fundamentally different approach.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85800" y="4444920"/>
            <a:ext cx="16916100" cy="186090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chemeClr val="dk1">
                <a:alpha val="1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93350" y="4452851"/>
            <a:ext cx="5627100" cy="20784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98280" y="4572000"/>
            <a:ext cx="5167800" cy="350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C43A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BLOCKED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98280" y="4999320"/>
            <a:ext cx="5167800" cy="837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5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$162</a:t>
            </a:r>
            <a:r>
              <a:rPr b="0" lang="en-US" sz="3178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B</a:t>
            </a:r>
            <a:endParaRPr b="0" sz="317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98280" y="5799600"/>
            <a:ext cx="516780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Of datacenter projects halted by state &amp; local pushback.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330250" y="4452851"/>
            <a:ext cx="5627100" cy="20784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635160" y="4572000"/>
            <a:ext cx="5167800" cy="350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CONCENTRATED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635160" y="4999320"/>
            <a:ext cx="5167800" cy="837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5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70</a:t>
            </a:r>
            <a:r>
              <a:rPr b="0" lang="en-US" sz="3178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%</a:t>
            </a:r>
            <a:endParaRPr b="0" sz="317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635160" y="5799600"/>
            <a:ext cx="516780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Of East Coast internet traffic routed through Northern Virginia alone.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967125" y="4452851"/>
            <a:ext cx="5627100" cy="20784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2272040" y="4572000"/>
            <a:ext cx="5167800" cy="350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6041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HEAVY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2272040" y="4999320"/>
            <a:ext cx="5167800" cy="837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5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300</a:t>
            </a:r>
            <a:r>
              <a:rPr b="0" lang="en-US" sz="3178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MW</a:t>
            </a:r>
            <a:endParaRPr b="0" sz="317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2272040" y="5799600"/>
            <a:ext cx="516780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Per hyperscale campus — equivalent to a small power plant.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93350" y="6910025"/>
            <a:ext cx="84762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WHY STATES ARE PUSHING BACK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23950" y="7261385"/>
            <a:ext cx="8418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Hyperscale campuses overwhelm local power grids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Millions of gallons/day of water for evaporative cooling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Burden without proportional economic benefit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Environmental reviews blocking permits, noise, blight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Political pressure from residents &amp; local gov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9380150" y="6910025"/>
            <a:ext cx="84762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WHAT THE CONCENTRATION MEANS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410750" y="7261385"/>
            <a:ext cx="8418900" cy="14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No geographic redundancy for critical internet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No data sovereignty — gov has no control of where data lives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AI inference needs latency centralized facilities can't serve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8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 single regional event degrades federal + financial + defense</a:t>
            </a:r>
            <a:endParaRPr b="0" sz="17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85800" y="10020240"/>
            <a:ext cx="17676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03 / 13 · PROBLEM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4641560" y="10020240"/>
            <a:ext cx="30488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SOURCES: INDUSTRY TRACKERS, Q1 2026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5332400" y="169560"/>
            <a:ext cx="234540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MARKET OPPORTUNITY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MARKET OPPORTUNITY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85800" y="1428850"/>
            <a:ext cx="2874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85800" y="1534750"/>
            <a:ext cx="10896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$162B</a:t>
            </a:r>
            <a:r>
              <a:rPr lang="en-US" sz="5900">
                <a:solidFill>
                  <a:schemeClr val="dk1"/>
                </a:solidFill>
              </a:rPr>
              <a:t> </a:t>
            </a: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blocked projects. </a:t>
            </a:r>
            <a:r>
              <a:rPr lang="en-US" sz="5900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demand didn't go away.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85800" y="3539088"/>
            <a:ext cx="169920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The deployment model is what's broken. Distributed, sub-2MW edge sites clear every obstacle the hyperscale model tripped over.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85800" y="4224341"/>
            <a:ext cx="8343600" cy="26514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98280" y="4394788"/>
            <a:ext cx="7917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THE BLOCKED PIPELINE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371600" y="4887461"/>
            <a:ext cx="7421700" cy="17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$162B of announced datacenter projects facing delays or cancellation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VA, GA, IN, SC imposing moratoriums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EIRs adding 12–24+ months to timelines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Grid interconnect queues 3–5+ yr (7+ in N. Virginia)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Community opposition → state legislation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258480" y="4224341"/>
            <a:ext cx="8343600" cy="26514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FFB45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570600" y="4394788"/>
            <a:ext cx="80316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ENVIRONMENTAL CONCERNS ARE REAL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829800" y="4887461"/>
            <a:ext cx="75360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Single hyperscale campus uses 1–5M gallons of water/day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Concentrated demand drives new fossil generation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IEA projects DC electricity at 945–1,300 TWh by 2030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9829800" y="6417096"/>
            <a:ext cx="7691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97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FORCING A NEW DEPLOYMENT PRIMITIVE</a:t>
            </a:r>
            <a:endParaRPr b="0" sz="149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85800" y="7104701"/>
            <a:ext cx="8343600" cy="22896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5EE3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98280" y="7265068"/>
            <a:ext cx="79170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WHY DISTRIBUTED SOLVES THIS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371600" y="7767821"/>
            <a:ext cx="75768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Power: </a:t>
            </a:r>
            <a:r>
              <a:rPr b="0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&lt;2MW works within existing grid — no new generation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371600" y="8129621"/>
            <a:ext cx="75768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Permitting: </a:t>
            </a:r>
            <a:r>
              <a:rPr b="0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small footprints within tower sites bypass battles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371600" y="8491781"/>
            <a:ext cx="75768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Water: </a:t>
            </a:r>
            <a:r>
              <a:rPr b="0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DLC eliminates evaporative towers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371600" y="8853581"/>
            <a:ext cx="75768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Community: </a:t>
            </a:r>
            <a:r>
              <a:rPr b="0" lang="en-US" sz="152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local jobs &amp; tax revenue, zero burden — won't know it's there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258480" y="7104701"/>
            <a:ext cx="8343600" cy="22896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AEF359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570600" y="7265068"/>
            <a:ext cx="80316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SOVEREIGNTY REQUIRES PRESENCE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829800" y="7767821"/>
            <a:ext cx="76911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8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States increasingly mandate government data stay within their borders. Municipalities need local compute for 911, traffic, and utility SCADA. No cloud policy substitutes for physical proximity.</a:t>
            </a:r>
            <a:endParaRPr b="0" sz="158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85800" y="10020240"/>
            <a:ext cx="270036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04 / 13 · MARKET OPPORTUNITY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4810760" y="10020240"/>
            <a:ext cx="28746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TAM · EDGE COMPUTE $500B+ BY 2030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5924600" y="169560"/>
            <a:ext cx="175356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OUR APPROACH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OUR APPROACH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85800" y="1520275"/>
            <a:ext cx="149673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 datacenters at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cellular tower sites.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85800" y="2852233"/>
            <a:ext cx="11343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Highly dispersed, inference-specific micro datacenters (&lt;2MW each) deployed at existing cellular tower infrastructure — eliminating permitting, power, and community opposition.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85800" y="4444920"/>
            <a:ext cx="16916040" cy="110844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93360" y="4452840"/>
            <a:ext cx="4217760" cy="109296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60120" y="4572000"/>
            <a:ext cx="3780000" cy="307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PER-SITE POWER DRAW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60120" y="48985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&lt;2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MW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921200" y="4452840"/>
            <a:ext cx="4217760" cy="109296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171400" y="4572000"/>
            <a:ext cx="3780000" cy="307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 TIME (PREFAB)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187960" y="48985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90–180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148680" y="4452840"/>
            <a:ext cx="4217760" cy="109296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9382320" y="4572000"/>
            <a:ext cx="3780000" cy="307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PERMITTING REQUIRED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9415440" y="48985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</a:t>
            </a:r>
            <a:endParaRPr b="0" sz="330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3376520" y="4452840"/>
            <a:ext cx="4217760" cy="109296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3593600" y="4572000"/>
            <a:ext cx="3780000" cy="307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CROWN CASTLE TOWER SITES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3643280" y="4898520"/>
            <a:ext cx="37947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40,000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+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85800" y="5934949"/>
            <a:ext cx="8343600" cy="34959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5EE3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998280" y="6172200"/>
            <a:ext cx="540252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CROWN CASTLE AGREEMENT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98275" y="6597736"/>
            <a:ext cx="7950300" cy="1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49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Active discussions to co-locate ANDD micro datacenters at </a:t>
            </a:r>
            <a:r>
              <a:rPr b="1" lang="en-US" sz="1749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40,000+ tower sites </a:t>
            </a:r>
            <a:r>
              <a:rPr b="0" lang="en-US" sz="1749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. Available power, connectivity, and site access provide an </a:t>
            </a:r>
            <a:r>
              <a:rPr b="1" lang="en-US" sz="1749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immediate deployment pipeline</a:t>
            </a:r>
            <a:r>
              <a:rPr b="0" lang="en-US" sz="1749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74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9258480" y="5934960"/>
            <a:ext cx="4057200" cy="161784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570600" y="6172200"/>
            <a:ext cx="300240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EXISTING POWER &amp; FIBER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570600" y="6597720"/>
            <a:ext cx="3535560" cy="680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Utility feeds + fiber/microwave backhaul already on-site. We scale to the grid capacity that's already there.</a:t>
            </a:r>
            <a:endParaRPr b="0" sz="13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3544640" y="5934960"/>
            <a:ext cx="4057200" cy="161784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3857126" y="6172200"/>
            <a:ext cx="35166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PERMITTING RISK ELIMINATED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3857120" y="6597720"/>
            <a:ext cx="353556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Inside the existing tower footprint; operates under the tower's land-use permits. No new EIRs.</a:t>
            </a:r>
            <a:endParaRPr b="0" sz="13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258475" y="7781748"/>
            <a:ext cx="4057200" cy="16491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570600" y="8001000"/>
            <a:ext cx="3688200" cy="2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DISTRIBUTION BUILT-IN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570600" y="8444525"/>
            <a:ext cx="3688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Tower siting tracks population. We inherit a deployment map optimized for user proximity.</a:t>
            </a:r>
            <a:endParaRPr b="0" sz="13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3544650" y="7781748"/>
            <a:ext cx="4057200" cy="16491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3857120" y="8001000"/>
            <a:ext cx="3516480" cy="2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AI-NATIVE = LOWER OPEX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3857115" y="8560402"/>
            <a:ext cx="35355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1 operator per 20–50 sites (not 5–10 per site). AI handles provisioning, monitoring, billing.</a:t>
            </a:r>
            <a:endParaRPr b="0" sz="13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85800" y="10020240"/>
            <a:ext cx="18522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05 / 13 · APPROACH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4472720" y="10020240"/>
            <a:ext cx="322308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 PATTERN · PREFAB + TOWER CO-LO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5924600" y="169560"/>
            <a:ext cx="175356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WHAT'S NOVEL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WHAT'S NOVEL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85800" y="1520280"/>
            <a:ext cx="15544800" cy="1436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inference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</a:t>
            </a:r>
            <a:r>
              <a:rPr b="0" lang="en-US" sz="590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not just datacenters.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85800" y="3438603"/>
            <a:ext cx="113436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ANDD</a:t>
            </a:r>
            <a:r>
              <a:rPr b="0" lang="en-US" sz="21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 makes AI capacity available like a utility — elastic, priced, routed.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85800" y="4110851"/>
            <a:ext cx="5486100" cy="22548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98280" y="4343400"/>
            <a:ext cx="5173920" cy="27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5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AI MODEL MARKETPLACE</a:t>
            </a:r>
            <a:endParaRPr b="0" sz="1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98280" y="4773600"/>
            <a:ext cx="50068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Inference as a service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98280" y="5337720"/>
            <a:ext cx="500688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Wide catalog of LLMs, agents, vision models hosted across the network. No GPU provisioning needed.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400800" y="4110851"/>
            <a:ext cx="5486100" cy="22548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713280" y="4343400"/>
            <a:ext cx="5173920" cy="27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50" u="none" strike="noStrike">
                <a:solidFill>
                  <a:srgbClr val="6041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ELASTIC TOKEN CAPACITY</a:t>
            </a:r>
            <a:endParaRPr b="0" sz="1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713280" y="4773600"/>
            <a:ext cx="50068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Buy tokens on demand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713280" y="5337720"/>
            <a:ext cx="500688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The network routes to available GPUs across the mesh automatically — no capacity planning, no dedicated hardware.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2115800" y="4110851"/>
            <a:ext cx="5486100" cy="22548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2428280" y="4343400"/>
            <a:ext cx="5173560" cy="27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5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EDGE-NATIVE INFERENCE</a:t>
            </a:r>
            <a:endParaRPr b="0" sz="17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2428280" y="4773600"/>
            <a:ext cx="50068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Sub-10ms latency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2428280" y="5337720"/>
            <a:ext cx="500688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2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Real-time applications: autonomous vehicles, medical devices, industrial control, fraud detection.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85800" y="6611353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FIVE THINGS THAT MAKE ANDD DIFFERENT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85800" y="7136233"/>
            <a:ext cx="9289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</a:t>
            </a:r>
            <a:r>
              <a:rPr b="0" lang="en-US" sz="20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Cell tower co-location — 40,000+ sites, existing permits &amp; power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85800" y="7673353"/>
            <a:ext cx="9289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</a:t>
            </a:r>
            <a:r>
              <a:rPr b="0" lang="en-US" sz="20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&lt;2MW per site — fits current grid, no new generation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85800" y="8210473"/>
            <a:ext cx="9289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</a:t>
            </a:r>
            <a:r>
              <a:rPr b="0" lang="en-US" sz="20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AI-native ops — 95%+ automated, 60–75% lower staffing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85800" y="8748313"/>
            <a:ext cx="9289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</a:t>
            </a:r>
            <a:r>
              <a:rPr b="0" lang="en-US" sz="20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Inference-specific hardware — optimized for 60–70% of AI compute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85800" y="9285433"/>
            <a:ext cx="9289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</a:t>
            </a:r>
            <a:r>
              <a:rPr b="0" lang="en-US" sz="20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Network mesh fabric — workloads route to optimal location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0086120" y="6698833"/>
            <a:ext cx="7515600" cy="30408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5EE3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0398600" y="6839953"/>
            <a:ext cx="3546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THE BUSINESS MOAT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0398600" y="7399753"/>
            <a:ext cx="70977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1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new site makes the network more valuable.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296720" y="7928593"/>
            <a:ext cx="70686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More locations → lower latency, higher reliability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More coverage → more addressable market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More data → better capacity planning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More nodes → higher network-wide utilization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0398600" y="9281113"/>
            <a:ext cx="70977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7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IS A NETWORK-EFFECT BUSINESS, NOT A REAL ESTATE BUSINESS.</a:t>
            </a:r>
            <a:endParaRPr b="0" sz="119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85800" y="10020240"/>
            <a:ext cx="15984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06 / 13 · NOVEL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4134320" y="10020240"/>
            <a:ext cx="357156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POSITIONING · INFRA PRODUCT, NOT LANDLORD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6220520" y="169560"/>
            <a:ext cx="145728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CUSTOMERS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CUSTOMERS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85800" y="1520280"/>
            <a:ext cx="11845440" cy="1436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Who buys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edge AI inference capacity?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93350" y="3758878"/>
            <a:ext cx="5627100" cy="20304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60120" y="3898544"/>
            <a:ext cx="537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50" u="none" strike="noStrike">
                <a:solidFill>
                  <a:srgbClr val="6041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AI &amp; ML</a:t>
            </a:r>
            <a:endParaRPr b="0" sz="2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60120" y="4229384"/>
            <a:ext cx="5246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&amp; agent providers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960120" y="4652384"/>
            <a:ext cx="5246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LLM, CV, NLP, AI agents — low-latency inference close to users. Buy token capacity &amp; GPU hours.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330250" y="3758878"/>
            <a:ext cx="5627100" cy="20304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597000" y="3898544"/>
            <a:ext cx="5290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5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GOVERNMENT</a:t>
            </a:r>
            <a:endParaRPr b="0" sz="2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597000" y="4229384"/>
            <a:ext cx="5246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Fed / state / local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597000" y="4652384"/>
            <a:ext cx="5246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Data sovereignty, FedRAMP, NG911, FirstNet, CJIS, defense-adjacent. </a:t>
            </a:r>
            <a:r>
              <a:rPr b="1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Multi-year contracts at premium pricing.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1967125" y="3758878"/>
            <a:ext cx="5627100" cy="20304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2233880" y="3898544"/>
            <a:ext cx="536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5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HEALTHCARE</a:t>
            </a:r>
            <a:endParaRPr b="0" sz="2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2233880" y="4229384"/>
            <a:ext cx="5246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Telemedicine &amp; imaging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2233880" y="4652384"/>
            <a:ext cx="5246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HIPAA-compliant edge for medical imaging AI, remote diagnostics. Data stays local, latency is life-critical.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93350" y="5789376"/>
            <a:ext cx="5627100" cy="18330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960120" y="5931568"/>
            <a:ext cx="5360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FINANCIAL SERVICES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960120" y="6259888"/>
            <a:ext cx="5246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Fraud, payments, residency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960120" y="6682888"/>
            <a:ext cx="5246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Sub-50ms fraud detection, payment processing, data residency. High-value, SLA-sensitive.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330235" y="5789376"/>
            <a:ext cx="5627100" cy="18330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597000" y="5931568"/>
            <a:ext cx="5360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C43A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AUTONOMOUS SYSTEMS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597000" y="6259888"/>
            <a:ext cx="5246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V2X, drones, robotics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597000" y="6682888"/>
            <a:ext cx="52464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61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Sub-10ms inference required. Growing rapidly — </a:t>
            </a:r>
            <a:r>
              <a:rPr b="1" lang="en-US" sz="1461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no alternative to edge.</a:t>
            </a:r>
            <a:endParaRPr b="0" sz="146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1967120" y="5789376"/>
            <a:ext cx="5627100" cy="18330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2233880" y="5931568"/>
            <a:ext cx="5368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FF9E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WEB3 &amp; DEPIN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2233880" y="6259888"/>
            <a:ext cx="5246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Enterprise-grade backbone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2233880" y="6682888"/>
            <a:ext cx="5246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Validator hosting, compute marketplaces, settlement. Pay-per-use via crypto micro-transactions.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85800" y="7827979"/>
            <a:ext cx="16916100" cy="110850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93360" y="7835539"/>
            <a:ext cx="5627100" cy="10929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960120" y="8064139"/>
            <a:ext cx="5246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EDGE COMPUTING TAM · 2030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60120" y="8281219"/>
            <a:ext cx="52464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$500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B+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330240" y="7835539"/>
            <a:ext cx="5627100" cy="10929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597000" y="8064139"/>
            <a:ext cx="5246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SHARE OF AI COMPUTE IN INFERENCE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597000" y="8281219"/>
            <a:ext cx="52464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60–70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%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1967120" y="7835539"/>
            <a:ext cx="5627100" cy="10929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2233880" y="8064139"/>
            <a:ext cx="5246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DEPIN INFRASTRUCTURE MARKET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2233880" y="8281219"/>
            <a:ext cx="52464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$25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B+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85800" y="10020240"/>
            <a:ext cx="19368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07 / 13 · CUSTOMERS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5149160" y="10020240"/>
            <a:ext cx="25286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SIX DEMAND RAILS, DIVERSIFIED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2" name="Google Shape;2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6220520" y="169560"/>
            <a:ext cx="145728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EXECUTION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EXECUTION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85800" y="1510249"/>
            <a:ext cx="169920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Keys to success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&amp; risk mitigation.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85800" y="2839453"/>
            <a:ext cx="85062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KEYS TO SUCCESS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85800" y="3361954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921960" y="3559942"/>
            <a:ext cx="8028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Speed to scale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921960" y="3978982"/>
            <a:ext cx="8028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Prefab units in 60–90d vs. 18–24mo. 40K+ pre-validated locations. </a:t>
            </a:r>
            <a:endParaRPr b="0" sz="1700" u="none" strike="noStrike">
              <a:solidFill>
                <a:srgbClr val="55637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Target: 3–5 sites Y1, 50 Y2, 300 Y4.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85800" y="4924373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921960" y="5122379"/>
            <a:ext cx="8028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 management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921960" y="5541419"/>
            <a:ext cx="8028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AI ops cuts staffing $400K+ → $80–150K/yr/site. Power scales to existing grid — no buildout premiums.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85800" y="6525775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921960" y="6723774"/>
            <a:ext cx="8028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Premium compute fill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921960" y="7142814"/>
            <a:ext cx="8028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Inference-specific commands premium pricing. Mesh routing fills available capacity across the network.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85800" y="8107727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921960" y="8306077"/>
            <a:ext cx="8028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Offtake customers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921960" y="8725117"/>
            <a:ext cx="80286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Gov contracts (3–5 yr, premium) provide base load. AI &amp; healthcare provide volume. Multi-rail revenue diversifies concentration.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324720" y="2839453"/>
            <a:ext cx="85062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KEY RISKS &amp; MITIGATIONS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9334450" y="3361952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9570600" y="3559950"/>
            <a:ext cx="4464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Crown Castle partnership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6699099" y="3605650"/>
            <a:ext cx="765000" cy="237600"/>
          </a:xfrm>
          <a:prstGeom prst="rect">
            <a:avLst/>
          </a:prstGeom>
          <a:noFill/>
          <a:ln cap="flat" cmpd="sng" w="9525">
            <a:solidFill>
              <a:srgbClr val="C27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16699025" y="3632300"/>
            <a:ext cx="7650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MEDIUM</a:t>
            </a:r>
            <a:endParaRPr b="1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9570600" y="3996262"/>
            <a:ext cx="80286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Agreement may not materialize. </a:t>
            </a:r>
            <a:r>
              <a:rPr b="1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Mitigation: </a:t>
            </a: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towers are one channel — industrial parks, substations, ISP POPs, other towercos in parallel.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9334450" y="4924363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9570600" y="5122363"/>
            <a:ext cx="4055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Utilization / fill rate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16699099" y="5168068"/>
            <a:ext cx="765000" cy="237600"/>
          </a:xfrm>
          <a:prstGeom prst="rect">
            <a:avLst/>
          </a:prstGeom>
          <a:noFill/>
          <a:ln cap="flat" cmpd="sng" w="9525">
            <a:solidFill>
              <a:srgbClr val="C27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6699025" y="5194718"/>
            <a:ext cx="7650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MEDIUM</a:t>
            </a:r>
            <a:endParaRPr b="1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9570600" y="5558678"/>
            <a:ext cx="80286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Sites may not hit target utilization fast enough. </a:t>
            </a:r>
            <a:r>
              <a:rPr b="1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Mitigation: </a:t>
            </a: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AI demand modeling drives site selection; gov anchor tenants = base load.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9334450" y="6525786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9570600" y="6723805"/>
            <a:ext cx="3744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execution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6687800" y="6769507"/>
            <a:ext cx="788100" cy="237600"/>
          </a:xfrm>
          <a:prstGeom prst="rect">
            <a:avLst/>
          </a:prstGeom>
          <a:noFill/>
          <a:ln cap="flat" cmpd="sng" w="9525">
            <a:solidFill>
              <a:srgbClr val="3D7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6863157" y="6796157"/>
            <a:ext cx="437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LOW</a:t>
            </a:r>
            <a:endParaRPr b="1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9570600" y="7160115"/>
            <a:ext cx="80286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AI mgmt layer may not hit target autonomy. </a:t>
            </a:r>
            <a:r>
              <a:rPr b="1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Mitigation: </a:t>
            </a: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components are proven; innovation is integration. Graduated rollout with human fallback.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9334450" y="8107725"/>
            <a:ext cx="8267400" cy="14487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9570600" y="8305717"/>
            <a:ext cx="2982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Competition</a:t>
            </a:r>
            <a:endParaRPr b="0" sz="17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6687800" y="8351442"/>
            <a:ext cx="788100" cy="237600"/>
          </a:xfrm>
          <a:prstGeom prst="rect">
            <a:avLst/>
          </a:prstGeom>
          <a:noFill/>
          <a:ln cap="flat" cmpd="sng" w="9525">
            <a:solidFill>
              <a:srgbClr val="3D7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16863157" y="8378092"/>
            <a:ext cx="437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LOW</a:t>
            </a:r>
            <a:endParaRPr b="1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9570600" y="8742047"/>
            <a:ext cx="80286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Hyperscalers could replicate. </a:t>
            </a:r>
            <a:r>
              <a:rPr b="1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Mitigation: </a:t>
            </a:r>
            <a:r>
              <a:rPr b="0" lang="en-US" sz="17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sub-2MW is structurally unattractive; prior edge attempts failed on economics AI ops now solve.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85800" y="10020240"/>
            <a:ext cx="19368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08 / 13 · EXECUTION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2611880" y="10020240"/>
            <a:ext cx="513972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POSTURE · CONSERVATIVE ON CONTRACTS, AGGRESSIVE ON OPS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1" name="Google Shape;3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15727320" y="169560"/>
            <a:ext cx="19508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UNIT ECONOMICS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UNIT ECONOMICS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85800" y="1520280"/>
            <a:ext cx="13258800" cy="9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it costs: </a:t>
            </a:r>
            <a:r>
              <a:rPr b="0" lang="en-US" sz="590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per-site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economics.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685800" y="2600640"/>
            <a:ext cx="8305560" cy="722916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998280" y="2743200"/>
            <a:ext cx="7911000" cy="3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CAPEX — PER 320KW EDGE SITE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998280" y="3263760"/>
            <a:ext cx="7680600" cy="4366080"/>
          </a:xfrm>
          <a:prstGeom prst="rect">
            <a:avLst/>
          </a:prstGeom>
          <a:noFill/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1001880" y="3865680"/>
            <a:ext cx="5604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1192680" y="3420000"/>
            <a:ext cx="53917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Modular enclosure + site prep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607080" y="3865680"/>
            <a:ext cx="2067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6721560" y="3420000"/>
            <a:ext cx="17629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$250K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1001880" y="4471560"/>
            <a:ext cx="5604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1192680" y="4025520"/>
            <a:ext cx="53917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Compute (5 racks, 160 GB200s)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6607080" y="4471560"/>
            <a:ext cx="2067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721560" y="4025520"/>
            <a:ext cx="17629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$9M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1001880" y="5077080"/>
            <a:ext cx="5604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1192680" y="4631400"/>
            <a:ext cx="53917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Networking (switches, backhaul)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607080" y="5077080"/>
            <a:ext cx="2067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721560" y="4631400"/>
            <a:ext cx="17629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$250K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001880" y="5682960"/>
            <a:ext cx="5604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192680" y="5237280"/>
            <a:ext cx="53917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Power (UPS, PDU, switchgear)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607080" y="5682960"/>
            <a:ext cx="2067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721560" y="5237280"/>
            <a:ext cx="17629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$500K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001880" y="6288840"/>
            <a:ext cx="5604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1192680" y="5843160"/>
            <a:ext cx="53917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Cooling (DLC + ambient)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607080" y="6288840"/>
            <a:ext cx="2067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721560" y="5843160"/>
            <a:ext cx="17629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$250K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001880" y="6894720"/>
            <a:ext cx="5604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1192680" y="6448680"/>
            <a:ext cx="53917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Security, construction, other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607080" y="6894720"/>
            <a:ext cx="20678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6721560" y="6448680"/>
            <a:ext cx="176292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$750K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001880" y="6902280"/>
            <a:ext cx="560484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1192680" y="7100280"/>
            <a:ext cx="539172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A1224"/>
                </a:solidFill>
                <a:latin typeface="Inter"/>
                <a:ea typeface="Inter"/>
                <a:cs typeface="Inter"/>
                <a:sym typeface="Inter"/>
              </a:rPr>
              <a:t>Total CapEx per site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6607080" y="6902280"/>
            <a:ext cx="206784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721560" y="7100280"/>
            <a:ext cx="176292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$11M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9296275" y="2600650"/>
            <a:ext cx="8305500" cy="51174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9608760" y="2743200"/>
            <a:ext cx="7911000" cy="3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ANNUAL OPEX — TRADITIONAL VS ANDD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9608760" y="3263760"/>
            <a:ext cx="7680600" cy="4232520"/>
          </a:xfrm>
          <a:prstGeom prst="rect">
            <a:avLst/>
          </a:prstGeom>
          <a:noFill/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9612720" y="3267360"/>
            <a:ext cx="2896560" cy="471960"/>
          </a:xfrm>
          <a:prstGeom prst="rect">
            <a:avLst/>
          </a:prstGeom>
          <a:solidFill>
            <a:srgbClr val="EAE6DB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9612720" y="3732120"/>
            <a:ext cx="28965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9803160" y="3420000"/>
            <a:ext cx="26024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CATEGORY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12509640" y="3267360"/>
            <a:ext cx="2128680" cy="471960"/>
          </a:xfrm>
          <a:prstGeom prst="rect">
            <a:avLst/>
          </a:prstGeom>
          <a:solidFill>
            <a:srgbClr val="EAE6DB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12509640" y="3732120"/>
            <a:ext cx="21286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12624120" y="3420000"/>
            <a:ext cx="182376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TRADITIONAL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14638680" y="3267360"/>
            <a:ext cx="2647080" cy="471960"/>
          </a:xfrm>
          <a:prstGeom prst="rect">
            <a:avLst/>
          </a:prstGeom>
          <a:solidFill>
            <a:srgbClr val="EAE6DB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14638680" y="3732120"/>
            <a:ext cx="26470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4749560" y="3420000"/>
            <a:ext cx="23454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ANDD AI-NATIVE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9612720" y="4338000"/>
            <a:ext cx="28965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9803160" y="3892320"/>
            <a:ext cx="260244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Staffing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12509640" y="4338000"/>
            <a:ext cx="21286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12624120" y="3892320"/>
            <a:ext cx="18237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$400K+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4638680" y="4338000"/>
            <a:ext cx="26470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4749560" y="3892320"/>
            <a:ext cx="2345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3D7A2C"/>
                </a:solidFill>
                <a:latin typeface="Space Grotesk"/>
                <a:ea typeface="Space Grotesk"/>
                <a:cs typeface="Space Grotesk"/>
                <a:sym typeface="Space Grotesk"/>
              </a:rPr>
              <a:t>$80–150K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9612720" y="4943880"/>
            <a:ext cx="28965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9803160" y="4498200"/>
            <a:ext cx="260244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Power (@ $0.10/kWh)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2509640" y="4943880"/>
            <a:ext cx="21286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12624120" y="4498200"/>
            <a:ext cx="18237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$280K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14638680" y="4943880"/>
            <a:ext cx="26470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4749560" y="4498200"/>
            <a:ext cx="2345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$280K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9612720" y="5549760"/>
            <a:ext cx="28965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9803160" y="5103720"/>
            <a:ext cx="260244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Connectivity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2509640" y="5549760"/>
            <a:ext cx="21286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12624120" y="5103720"/>
            <a:ext cx="18237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$100K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4638680" y="5549760"/>
            <a:ext cx="26470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4749560" y="5103720"/>
            <a:ext cx="2345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3D7A2C"/>
                </a:solidFill>
                <a:latin typeface="Space Grotesk"/>
                <a:ea typeface="Space Grotesk"/>
                <a:cs typeface="Space Grotesk"/>
                <a:sym typeface="Space Grotesk"/>
              </a:rPr>
              <a:t>$60–95K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612720" y="6155280"/>
            <a:ext cx="28965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9803160" y="5709600"/>
            <a:ext cx="260244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Site lease / co-lo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12509640" y="6155280"/>
            <a:ext cx="21286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12624120" y="5709600"/>
            <a:ext cx="18237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$50–100K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14638680" y="6155280"/>
            <a:ext cx="26470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4749560" y="5709600"/>
            <a:ext cx="2345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$50–100K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9612720" y="6761160"/>
            <a:ext cx="28965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9803160" y="6315480"/>
            <a:ext cx="260244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Insurance, maintenance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12509640" y="6761160"/>
            <a:ext cx="21286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12624120" y="6315480"/>
            <a:ext cx="18237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$150–200K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14638680" y="6761160"/>
            <a:ext cx="264708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14749560" y="6315480"/>
            <a:ext cx="2345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$150–175K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9612720" y="6768720"/>
            <a:ext cx="289656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9803160" y="6967080"/>
            <a:ext cx="260244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0A1224"/>
                </a:solidFill>
                <a:latin typeface="Inter"/>
                <a:ea typeface="Inter"/>
                <a:cs typeface="Inter"/>
                <a:sym typeface="Inter"/>
              </a:rPr>
              <a:t>Total annual OpEx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12509640" y="6768720"/>
            <a:ext cx="212868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2624120" y="6967080"/>
            <a:ext cx="18237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$980K+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14638680" y="6768720"/>
            <a:ext cx="264708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4749560" y="6967080"/>
            <a:ext cx="234540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$620–800K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9296305" y="7812193"/>
            <a:ext cx="8305500" cy="1999800"/>
          </a:xfrm>
          <a:prstGeom prst="rect">
            <a:avLst/>
          </a:prstGeom>
          <a:solidFill>
            <a:srgbClr val="EAE6DB"/>
          </a:solidFill>
          <a:ln cap="flat" cmpd="sng" w="38150">
            <a:solidFill>
              <a:srgbClr val="00000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100" lIns="105100" spcFirstLastPara="1" rIns="105100" wrap="square" tIns="60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9608785" y="8014024"/>
            <a:ext cx="79110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SUMMARY — SITE UNIT ECONOMICS / YEAR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9608785" y="8402824"/>
            <a:ext cx="2534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7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REVENUE</a:t>
            </a:r>
            <a:endParaRPr b="0" sz="119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9608785" y="8587504"/>
            <a:ext cx="2534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$4.2–5.1M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12219865" y="8402824"/>
            <a:ext cx="25347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7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DIRECT COSTS</a:t>
            </a:r>
            <a:endParaRPr b="0" sz="119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12219865" y="8587504"/>
            <a:ext cx="2534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$620–800K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14830945" y="8402824"/>
            <a:ext cx="2534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7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EBITDA</a:t>
            </a:r>
            <a:endParaRPr b="0" sz="119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14830945" y="8587504"/>
            <a:ext cx="2534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3D7A2C"/>
                </a:solidFill>
                <a:latin typeface="Space Grotesk"/>
                <a:ea typeface="Space Grotesk"/>
                <a:cs typeface="Space Grotesk"/>
                <a:sym typeface="Space Grotesk"/>
              </a:rPr>
              <a:t>$3.6–4.3M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9608785" y="9189424"/>
            <a:ext cx="7911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Each site generates ≈ </a:t>
            </a:r>
            <a:r>
              <a:rPr b="1" lang="en-US" sz="1471" u="none" strike="noStrike">
                <a:solidFill>
                  <a:srgbClr val="0F7A9A"/>
                </a:solidFill>
                <a:latin typeface="Inter"/>
                <a:ea typeface="Inter"/>
                <a:cs typeface="Inter"/>
                <a:sym typeface="Inter"/>
              </a:rPr>
              <a:t>$2.9M </a:t>
            </a:r>
            <a:r>
              <a:rPr b="0" lang="en-US" sz="1471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excess cash after equity, debt service and residual. 3-year time-frame to secure.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685800" y="10020240"/>
            <a:ext cx="23594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09 / 13 · UNIT ECONOMICS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13372920" y="10020240"/>
            <a:ext cx="43556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ILLUSTRATIVE · 320KW EDGE SITE, TARGET UTILIZATION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4" name="Google Shape;4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1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15431040" y="169560"/>
            <a:ext cx="224676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· FINANCIAL RETURNS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FINANCIAL RETURNS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85800" y="1520280"/>
            <a:ext cx="11658600" cy="9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 on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investment.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85800" y="2600640"/>
            <a:ext cx="8305560" cy="511452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998280" y="2743200"/>
            <a:ext cx="7911000" cy="3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PER-SITE REVENUE MODEL — 320KW, TARGET UTIL.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998280" y="3263760"/>
            <a:ext cx="7680600" cy="3760200"/>
          </a:xfrm>
          <a:prstGeom prst="rect">
            <a:avLst/>
          </a:prstGeom>
          <a:noFill/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001880" y="3865680"/>
            <a:ext cx="4952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1192680" y="3420000"/>
            <a:ext cx="47199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AI inference (GPU hours, token capacity)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5954760" y="3865680"/>
            <a:ext cx="2720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6063480" y="3420000"/>
            <a:ext cx="2421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$4M – 4.5M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001880" y="4471560"/>
            <a:ext cx="4952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1192680" y="4025520"/>
            <a:ext cx="47199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Compute &amp; colo (enterprise, gov)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5954760" y="4471560"/>
            <a:ext cx="2720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6063480" y="4025520"/>
            <a:ext cx="2421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$100–250K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1001880" y="5077080"/>
            <a:ext cx="4952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1192680" y="4631400"/>
            <a:ext cx="47199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Storage &amp; CDN services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954760" y="5077080"/>
            <a:ext cx="2720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6063480" y="4631400"/>
            <a:ext cx="2421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$30–80K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1001880" y="5682960"/>
            <a:ext cx="4952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1192680" y="5237280"/>
            <a:ext cx="47199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DePIN / Web3 hosting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954760" y="5682960"/>
            <a:ext cx="2720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6063480" y="5237280"/>
            <a:ext cx="2421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$20–70K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1001880" y="6288840"/>
            <a:ext cx="4952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1192680" y="5843160"/>
            <a:ext cx="471996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Grid services (BESS, demand response)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5954760" y="6288840"/>
            <a:ext cx="272016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6063480" y="5843160"/>
            <a:ext cx="24210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$50–150K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001880" y="6296400"/>
            <a:ext cx="495216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1192680" y="6494400"/>
            <a:ext cx="47199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30" u="none" strike="noStrike">
                <a:solidFill>
                  <a:srgbClr val="0A1224"/>
                </a:solidFill>
                <a:latin typeface="Inter"/>
                <a:ea typeface="Inter"/>
                <a:cs typeface="Inter"/>
                <a:sym typeface="Inter"/>
              </a:rPr>
              <a:t>Total annual revenue</a:t>
            </a:r>
            <a:endParaRPr b="0" sz="16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5954760" y="6296400"/>
            <a:ext cx="272016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6063480" y="6494400"/>
            <a:ext cx="242100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$4.2 – 5.1M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9296280" y="2600640"/>
            <a:ext cx="8305560" cy="271044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9304200" y="2608200"/>
            <a:ext cx="414000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9570600" y="2836800"/>
            <a:ext cx="37148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GROSS MARGIN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9570600" y="3054240"/>
            <a:ext cx="3714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85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%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9570600" y="3549240"/>
            <a:ext cx="371484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At target utilization</a:t>
            </a:r>
            <a:endParaRPr b="0" sz="13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13453920" y="2608200"/>
            <a:ext cx="414000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13720680" y="2836800"/>
            <a:ext cx="37148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CAPEX PAYBACK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13720680" y="3054240"/>
            <a:ext cx="3714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2.5–3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yr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13720680" y="3549240"/>
            <a:ext cx="371484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Per site</a:t>
            </a:r>
            <a:endParaRPr b="0" sz="13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9304200" y="3960720"/>
            <a:ext cx="414000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9570600" y="4189320"/>
            <a:ext cx="37148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LEVERAGED PROJECT IRR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9570600" y="4406760"/>
            <a:ext cx="3714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70–80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%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9570600" y="4901760"/>
            <a:ext cx="371484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50% debt · 10% int · 3Y term</a:t>
            </a:r>
            <a:endParaRPr b="0" sz="13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13453920" y="3960720"/>
            <a:ext cx="4140000" cy="1342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13720680" y="4189320"/>
            <a:ext cx="37148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FEDERAL CAP GAINS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3720680" y="4406760"/>
            <a:ext cx="3714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%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3720680" y="4901760"/>
            <a:ext cx="371484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10-yr OZ hold</a:t>
            </a:r>
            <a:endParaRPr b="0" sz="13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9296280" y="5540040"/>
            <a:ext cx="8305560" cy="217512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FFB454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9608760" y="5852520"/>
            <a:ext cx="79110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OPPORTUNITY ZONE TAX STACK</a:t>
            </a:r>
            <a:endParaRPr b="0" sz="12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9856440" y="6203160"/>
            <a:ext cx="766332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Deferral: </a:t>
            </a:r>
            <a:r>
              <a:rPr b="0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capital gains reinvested into QOF defer tax obligation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9856440" y="6536520"/>
            <a:ext cx="766332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Step-up: </a:t>
            </a:r>
            <a:r>
              <a:rPr b="0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10% basis step-up at 5 years (up to 30% for rural OZ)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9856440" y="6869880"/>
            <a:ext cx="766332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Exclusion: </a:t>
            </a:r>
            <a:r>
              <a:rPr b="0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zero capital gains tax on all appreciation after 10 years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9856440" y="7203240"/>
            <a:ext cx="766332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IRA credits: </a:t>
            </a:r>
            <a:r>
              <a:rPr b="0" lang="en-US" sz="1471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30–50% ITC on solar/BESS further reduces effective cost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685800" y="8096760"/>
            <a:ext cx="16916040" cy="455040"/>
          </a:xfrm>
          <a:prstGeom prst="rect">
            <a:avLst/>
          </a:prstGeom>
          <a:noFill/>
          <a:ln cap="flat" cmpd="sng" w="9525">
            <a:solidFill>
              <a:srgbClr val="142850">
                <a:alpha val="2196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883800" y="8237520"/>
            <a:ext cx="17027280" cy="2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33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NETWORK SCALE: UNIT ECONOMICS IMPROVE WITH SCALE — SHARED AI OPS AMORTIZED ACROSS NODES, PURCHASING POWER IMPROVES, MESH ROUTING LIFTS NETWORK-WIDE UTILIZATION.</a:t>
            </a:r>
            <a:endParaRPr b="0" sz="13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685800" y="10020240"/>
            <a:ext cx="26132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10 / 13 · FINANCIAL RETURNS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14388120" y="10020240"/>
            <a:ext cx="33102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ILLUSTRATIVE IRR · SENSITIVITY MODELED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1" name="Google Shape;5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2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3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16121880" y="169560"/>
            <a:ext cx="155592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· SCALE PLAN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SCALE PLAN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685800" y="1520280"/>
            <a:ext cx="12573000" cy="122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Path to scale: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 buildout.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685800" y="2981520"/>
            <a:ext cx="16916040" cy="9000"/>
          </a:xfrm>
          <a:prstGeom prst="rect">
            <a:avLst/>
          </a:prstGeom>
          <a:solidFill>
            <a:srgbClr val="142850">
              <a:alpha val="21960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685800" y="2905560"/>
            <a:ext cx="151920" cy="151920"/>
          </a:xfrm>
          <a:prstGeom prst="rect">
            <a:avLst/>
          </a:prstGeom>
          <a:solidFill>
            <a:srgbClr val="0F7A9A"/>
          </a:solidFill>
          <a:ln cap="flat" cmpd="sng" w="38100">
            <a:solidFill>
              <a:srgbClr val="F5F2EA"/>
            </a:solidFill>
            <a:prstDash val="solid"/>
            <a:round/>
            <a:headEnd len="sm" w="sm" type="none"/>
            <a:tailEnd len="sm" w="sm" type="none"/>
          </a:ln>
          <a:effectLst>
            <a:outerShdw blurRad="114480" rotWithShape="0" algn="bl" dir="16200000" dist="50760">
              <a:srgbClr val="0F7A9A"/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685800" y="3200400"/>
            <a:ext cx="417888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1 / </a:t>
            </a:r>
            <a:r>
              <a:rPr lang="en-US" sz="1450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DEMONSTRATE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685800" y="3452040"/>
            <a:ext cx="417888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8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2026 &amp; 2027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584275" y="3932275"/>
            <a:ext cx="53232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6 pilot sites  + 75 operational sites in top PEAs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AI ops platform v1 operational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Beta customers (gov, AI, health)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Purchase commitments and/or down payments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SOC 2 Type I certification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QOF structure established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685775" y="6895180"/>
            <a:ext cx="4057200" cy="7503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845975" y="6929740"/>
            <a:ext cx="3849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EQUITY REQUIRED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845975" y="7150420"/>
            <a:ext cx="38496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</a:t>
            </a:r>
            <a:r>
              <a:rPr lang="en-US" sz="2285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60</a:t>
            </a: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0M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6997285" y="3219825"/>
            <a:ext cx="4179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2 / </a:t>
            </a:r>
            <a:r>
              <a:rPr lang="en-US" sz="1450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SCALE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6997285" y="3471465"/>
            <a:ext cx="4179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8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2028 &amp; 2029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6895777" y="3951700"/>
            <a:ext cx="52464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430 additional sites in top PEAs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Government contracts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AI handles &gt;90% of ops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Full mesh fabric operational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FedRAMP Moderate authorization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EBITDA positive (2027/2028 – driven by scale)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6980968" y="2905560"/>
            <a:ext cx="151800" cy="151800"/>
          </a:xfrm>
          <a:prstGeom prst="rect">
            <a:avLst/>
          </a:prstGeom>
          <a:solidFill>
            <a:srgbClr val="0F7A9A"/>
          </a:solidFill>
          <a:ln cap="flat" cmpd="sng" w="38100">
            <a:solidFill>
              <a:srgbClr val="F5F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6895780" y="6884820"/>
            <a:ext cx="4057200" cy="7503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142850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7055620" y="6914700"/>
            <a:ext cx="3849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EQUITY REQUIRED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7055620" y="7140060"/>
            <a:ext cx="38496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$1.8B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13544640" y="2905560"/>
            <a:ext cx="151920" cy="151920"/>
          </a:xfrm>
          <a:prstGeom prst="rect">
            <a:avLst/>
          </a:prstGeom>
          <a:solidFill>
            <a:srgbClr val="3D7A2C"/>
          </a:solidFill>
          <a:ln cap="flat" cmpd="sng" w="38100">
            <a:solidFill>
              <a:srgbClr val="F5F2EA"/>
            </a:solidFill>
            <a:prstDash val="solid"/>
            <a:round/>
            <a:headEnd len="sm" w="sm" type="none"/>
            <a:tailEnd len="sm" w="sm" type="none"/>
          </a:ln>
          <a:effectLst>
            <a:outerShdw blurRad="114480" rotWithShape="0" algn="bl" dir="16200000" dist="50760">
              <a:srgbClr val="3D7A2C"/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13544640" y="3200400"/>
            <a:ext cx="417888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4 / DOMINATE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13544640" y="3452040"/>
            <a:ext cx="417888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8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2030+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13443120" y="3932280"/>
            <a:ext cx="423504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500–1,000+ nodes nationwide – fill in PEA Demand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Cash flow funds growth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International expansion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Critical national infrastructure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VPP grid services at scale</a:t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2230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13544615" y="6880780"/>
            <a:ext cx="4057200" cy="7584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3D7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13704455" y="6929740"/>
            <a:ext cx="3849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FUNDING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13704455" y="7150420"/>
            <a:ext cx="38496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3" u="none" strike="noStrike">
                <a:solidFill>
                  <a:srgbClr val="3D7A2C"/>
                </a:solidFill>
                <a:latin typeface="Space Grotesk"/>
                <a:ea typeface="Space Grotesk"/>
                <a:cs typeface="Space Grotesk"/>
                <a:sym typeface="Space Grotesk"/>
              </a:rPr>
              <a:t>EBITDA-funded</a:t>
            </a:r>
            <a:endParaRPr b="0" sz="190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685950" y="8357535"/>
            <a:ext cx="16916100" cy="110850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rgbClr val="14285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693510" y="8365095"/>
            <a:ext cx="5627100" cy="10929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960270" y="8389575"/>
            <a:ext cx="524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AVG CAPEX PER SITE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960270" y="8810775"/>
            <a:ext cx="52464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$11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M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6330390" y="8365095"/>
            <a:ext cx="5627100" cy="10929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6597150" y="8389575"/>
            <a:ext cx="524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 TIME · PREFAB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6597150" y="8810775"/>
            <a:ext cx="52464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90–180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11967270" y="8365095"/>
            <a:ext cx="5627100" cy="10929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12234030" y="8389575"/>
            <a:ext cx="5246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AVAILABLE TOWER SITES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12234030" y="8810775"/>
            <a:ext cx="52464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40,000 </a:t>
            </a:r>
            <a:r>
              <a:rPr b="0" lang="en-US" sz="1682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+</a:t>
            </a:r>
            <a:endParaRPr b="0" sz="1682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685800" y="10020240"/>
            <a:ext cx="20214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11 / 13 · SCALE PLAN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13964760" y="10020240"/>
            <a:ext cx="374652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CAPITAL STACK · EQUITY → DEBT → SELF-FUNDED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8" name="Google Shape;5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3"/>
          <p:cNvSpPr/>
          <p:nvPr/>
        </p:nvSpPr>
        <p:spPr>
          <a:xfrm rot="-5400000">
            <a:off x="16795340" y="5566018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4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15431040" y="169560"/>
            <a:ext cx="224676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· CUSTOMER TRACTION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CUSTOMER TRACTION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685800" y="1520280"/>
            <a:ext cx="12573000" cy="9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Pipeline, not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speculation.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685725" y="2667600"/>
            <a:ext cx="169161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ANDD has line of sight to demand for the first fifty 500kW datacenters, a DoW program ( FreedomNet) covering majority of Florida, and T-Mobile as an additional pipeline opportunity.</a:t>
            </a:r>
            <a:endParaRPr b="0" sz="21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685800" y="4166545"/>
            <a:ext cx="16916100" cy="1870200"/>
          </a:xfrm>
          <a:prstGeom prst="rect">
            <a:avLst/>
          </a:prstGeom>
          <a:solidFill>
            <a:srgbClr val="142850">
              <a:alpha val="10196"/>
            </a:srgbClr>
          </a:solidFill>
          <a:ln cap="flat" cmpd="sng" w="9525">
            <a:solidFill>
              <a:srgbClr val="666666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693350" y="4174480"/>
            <a:ext cx="5627100" cy="27678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1036440" y="4307305"/>
            <a:ext cx="5089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IMMEDIATE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1036440" y="4720945"/>
            <a:ext cx="50892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9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Kardeshev</a:t>
            </a:r>
            <a:endParaRPr b="0" sz="279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1036440" y="5296225"/>
            <a:ext cx="5089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First 50 × 500kW datacenters. Line-of-sight demand, near-term contracting.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1036440" y="6354322"/>
            <a:ext cx="12495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3D7A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● ACTIVE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6330235" y="4174480"/>
            <a:ext cx="5627100" cy="27678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6673320" y="4307305"/>
            <a:ext cx="5089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NEAR TERM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673320" y="4720945"/>
            <a:ext cx="50892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9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 DoT · FreedomNet</a:t>
            </a:r>
            <a:endParaRPr b="0" sz="279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6673320" y="5296225"/>
            <a:ext cx="5089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Program requires ANDD to build out majority of Florida with datacenters — sovereign national deployment.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6673320" y="6354322"/>
            <a:ext cx="1785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● ENGAGED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11967120" y="4174480"/>
            <a:ext cx="5627100" cy="2767800"/>
          </a:xfrm>
          <a:prstGeom prst="rect">
            <a:avLst/>
          </a:prstGeom>
          <a:solidFill>
            <a:srgbClr val="F5F2EA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12310200" y="4307305"/>
            <a:ext cx="5089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FUTURE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12310200" y="4720945"/>
            <a:ext cx="50892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9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T-Mobile</a:t>
            </a:r>
            <a:endParaRPr b="0" sz="279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12310200" y="5296225"/>
            <a:ext cx="50892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5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Additional carrier-pipeline opportunity. Overlays neatly on the tower-site co-location model.</a:t>
            </a:r>
            <a:endParaRPr b="0" sz="154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12310200" y="6354322"/>
            <a:ext cx="1634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● EXPLORING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685950" y="7561351"/>
            <a:ext cx="16916100" cy="1746300"/>
          </a:xfrm>
          <a:prstGeom prst="rect">
            <a:avLst/>
          </a:prstGeom>
          <a:solidFill>
            <a:srgbClr val="EAE6DB"/>
          </a:solidFill>
          <a:ln cap="flat" cmpd="sng" w="9525">
            <a:solidFill>
              <a:srgbClr val="5EE3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998430" y="7736307"/>
            <a:ext cx="86028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CATEGORY INTEREST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998430" y="8096667"/>
            <a:ext cx="83901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8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Conversations in market with hyperscalers</a:t>
            </a:r>
            <a:endParaRPr b="0" sz="228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998421" y="8630396"/>
            <a:ext cx="160584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Google · Amazon · Meta — all exploring edge inference capacity as their own hyperscale pipelines face the same blocks.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685800" y="10020240"/>
            <a:ext cx="18522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12 / 13 · TRACTION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15318360" y="10020240"/>
            <a:ext cx="235944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 SNAPSHOT · Q2 2026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4" name="Google Shape;5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4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A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5"/>
          <p:cNvSpPr/>
          <p:nvPr/>
        </p:nvSpPr>
        <p:spPr>
          <a:xfrm>
            <a:off x="0" y="52596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847800" y="129600"/>
            <a:ext cx="57960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∀NDD</a:t>
            </a:r>
            <a:endParaRPr b="0" sz="127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16714080" y="169560"/>
            <a:ext cx="964080" cy="22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1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· TEAM</a:t>
            </a:r>
            <a:endParaRPr b="0" sz="9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685800" y="1143000"/>
            <a:ext cx="17423640" cy="22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TEAM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685800" y="1520280"/>
            <a:ext cx="12115800" cy="9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00" u="none" strike="noStrike">
                <a:solidFill>
                  <a:srgbClr val="55637D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team </a:t>
            </a:r>
            <a:r>
              <a:rPr b="0" lang="en-US" sz="5900" u="none" strike="noStrike">
                <a:solidFill>
                  <a:srgbClr val="0F7A9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building this.</a:t>
            </a:r>
            <a:endParaRPr b="0" sz="5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685800" y="2448350"/>
            <a:ext cx="17052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8" u="none" strike="noStrike">
                <a:solidFill>
                  <a:srgbClr val="22304A"/>
                </a:solidFill>
                <a:latin typeface="Inter"/>
                <a:ea typeface="Inter"/>
                <a:cs typeface="Inter"/>
                <a:sym typeface="Inter"/>
              </a:rPr>
              <a:t>Building ANDD requires expertise across datacenter infrastructure, AI/ML systems, telecommunications, real estate, federal compliance, and financial structuring.</a:t>
            </a:r>
            <a:endParaRPr b="0" sz="195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693360" y="3472623"/>
            <a:ext cx="5627100" cy="2599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3052973" y="3297675"/>
            <a:ext cx="2835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CEO</a:t>
            </a:r>
            <a:endParaRPr b="0" sz="2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3052973" y="3776955"/>
            <a:ext cx="28356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3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William Tolpegin</a:t>
            </a:r>
            <a:endParaRPr b="0" sz="20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960120" y="5113235"/>
            <a:ext cx="52464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7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35+ yrs executive experience. Former CEO of </a:t>
            </a:r>
            <a:r>
              <a:rPr b="1" lang="en-US" sz="1207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C-Band Alliance </a:t>
            </a:r>
            <a:r>
              <a:rPr b="0" lang="en-US" sz="1207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— the Intelsat/SES/Eutelsat/Telesat consortium that reallocated U.S. mid-band spectrum for 5G. Former CEO of </a:t>
            </a:r>
            <a:r>
              <a:rPr b="1" lang="en-US" sz="1207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OTA Broadcasting</a:t>
            </a:r>
            <a:r>
              <a:rPr b="0" lang="en-US" sz="1207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; co-founder of </a:t>
            </a:r>
            <a:r>
              <a:rPr b="1" lang="en-US" sz="1207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AURA Networks </a:t>
            </a:r>
            <a:r>
              <a:rPr b="0" lang="en-US" sz="1207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(deterministic wireless for drone C2).</a:t>
            </a:r>
            <a:endParaRPr b="0" sz="120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6330240" y="3472623"/>
            <a:ext cx="5627100" cy="2599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8673438" y="3290650"/>
            <a:ext cx="33189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PRESIDENT</a:t>
            </a:r>
            <a:endParaRPr b="0" sz="2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8673438" y="3769930"/>
            <a:ext cx="3318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3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Chris Stark</a:t>
            </a:r>
            <a:endParaRPr b="0" sz="20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6597000" y="5113235"/>
            <a:ext cx="52464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3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35+ yrs across Fortune 1000 and technology ventures with deep expertise in telecom, spectrum, and large-scale infrastructure deployment. Chairman and co-founder CBRS alliance,  long-time operator of complex multi-stakeholder programs.</a:t>
            </a:r>
            <a:endParaRPr sz="1233">
              <a:solidFill>
                <a:srgbClr val="55637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3">
              <a:solidFill>
                <a:srgbClr val="55637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3">
              <a:solidFill>
                <a:srgbClr val="55637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11967120" y="3472623"/>
            <a:ext cx="5627100" cy="2599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14345353" y="3290650"/>
            <a:ext cx="2543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CTO</a:t>
            </a:r>
            <a:endParaRPr b="0" sz="2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14345353" y="3769930"/>
            <a:ext cx="2543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3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Anoop Nannra</a:t>
            </a:r>
            <a:endParaRPr b="0" sz="20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12233880" y="5113235"/>
            <a:ext cx="52464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CEO/Co-Founder of </a:t>
            </a:r>
            <a:r>
              <a:rPr b="1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Trugard Labs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. Previously led blockchain and </a:t>
            </a:r>
            <a:r>
              <a:rPr lang="en-US" sz="1233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cloud 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initiatives at </a:t>
            </a:r>
            <a:r>
              <a:rPr b="1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AWS 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b="1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Cisco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, co-founded &amp; chaired the </a:t>
            </a:r>
            <a:r>
              <a:rPr b="1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Trusted IoT Alliance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. Hands-on background in distributed systems, </a:t>
            </a:r>
            <a:r>
              <a:rPr lang="en-US" sz="1233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photonics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33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chip design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, video infrastructure and cybersecurity.</a:t>
            </a:r>
            <a:endParaRPr b="0" sz="12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731460" y="6834238"/>
            <a:ext cx="5627100" cy="2599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3052977" y="6649306"/>
            <a:ext cx="3134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EVP OPERATIONS</a:t>
            </a:r>
            <a:endParaRPr b="0" sz="2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3052975" y="7131543"/>
            <a:ext cx="32046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3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Head of Deployment &amp; Operations</a:t>
            </a:r>
            <a:endParaRPr b="0" sz="20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998220" y="8485236"/>
            <a:ext cx="52464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Seeking a 20+ yr operator from hyperscale or towerco — </a:t>
            </a:r>
            <a:r>
              <a:rPr b="1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Equinix / Digital Realty / Crown Castle / American Tower </a:t>
            </a:r>
            <a:r>
              <a:rPr b="0" lang="en-US" sz="1233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. Must own multi-site prefab rollout at 50+ sites/yr, utility interconnect &amp; DLC commissioning, NOC automation, SOC 2 / FedRAMP compliance, and 24/7 field ops across distributed footprints.</a:t>
            </a:r>
            <a:endParaRPr b="0" sz="1233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6368340" y="6834238"/>
            <a:ext cx="5627100" cy="25998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8673450" y="6649306"/>
            <a:ext cx="302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CLO</a:t>
            </a:r>
            <a:endParaRPr b="0" sz="28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8673450" y="7131531"/>
            <a:ext cx="3026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30" u="none" strike="noStrike">
                <a:solidFill>
                  <a:srgbClr val="0A12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Brian Hendricks</a:t>
            </a:r>
            <a:endParaRPr b="0" sz="20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6635100" y="8485236"/>
            <a:ext cx="52464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Chief Public Policy &amp; Government Affairs Officer at </a:t>
            </a:r>
            <a:r>
              <a:rPr b="1" lang="en-US" sz="12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Nokia </a:t>
            </a:r>
            <a:r>
              <a:rPr b="0" lang="en-US" sz="12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(13+ yrs). Former </a:t>
            </a:r>
            <a:r>
              <a:rPr b="1" lang="en-US" sz="12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General Counsel &amp; Staff Director </a:t>
            </a:r>
            <a:r>
              <a:rPr b="0" lang="en-US" sz="1200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, U.S. Senate Committee on Commerce, Science &amp; Transportation; FCC Enforcement Bureau attorney; AT&amp;T policy. J.D./MPP, William &amp; Mary.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13623470" y="7570864"/>
            <a:ext cx="2543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97" u="none" strike="noStrike">
                <a:solidFill>
                  <a:srgbClr val="0F7A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 GET IN TOUCH</a:t>
            </a:r>
            <a:endParaRPr b="0" sz="2097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5"/>
          <p:cNvSpPr/>
          <p:nvPr/>
        </p:nvSpPr>
        <p:spPr>
          <a:xfrm>
            <a:off x="13076278" y="8253504"/>
            <a:ext cx="36378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1" u="none" strike="noStrike">
                <a:solidFill>
                  <a:srgbClr val="55637D"/>
                </a:solidFill>
                <a:latin typeface="Inter"/>
                <a:ea typeface="Inter"/>
                <a:cs typeface="Inter"/>
                <a:sym typeface="Inter"/>
              </a:rPr>
              <a:t>contact@andd.ai andd.ai</a:t>
            </a:r>
            <a:endParaRPr b="0" sz="1471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0" y="9906120"/>
            <a:ext cx="18287640" cy="9000"/>
          </a:xfrm>
          <a:prstGeom prst="rect">
            <a:avLst/>
          </a:prstGeom>
          <a:solidFill>
            <a:srgbClr val="142850">
              <a:alpha val="10196"/>
            </a:srgbClr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685800" y="10020240"/>
            <a:ext cx="1513800" cy="1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l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8691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13 / 13 · TEAM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1" name="Google Shape;6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80" y="145567"/>
            <a:ext cx="227520" cy="22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212" y="3276300"/>
            <a:ext cx="1715275" cy="171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5088" y="3290650"/>
            <a:ext cx="1715275" cy="171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33875" y="3290650"/>
            <a:ext cx="1715275" cy="171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15"/>
          <p:cNvPicPr preferRelativeResize="0"/>
          <p:nvPr/>
        </p:nvPicPr>
        <p:blipFill rotWithShape="1">
          <a:blip r:embed="rId7">
            <a:alphaModFix/>
          </a:blip>
          <a:srcRect b="54022" l="19857" r="21845" t="2376"/>
          <a:stretch/>
        </p:blipFill>
        <p:spPr>
          <a:xfrm>
            <a:off x="6692245" y="6656943"/>
            <a:ext cx="1715400" cy="17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15"/>
          <p:cNvSpPr/>
          <p:nvPr/>
        </p:nvSpPr>
        <p:spPr>
          <a:xfrm>
            <a:off x="998150" y="6656944"/>
            <a:ext cx="1715400" cy="168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To Be Hired</a:t>
            </a:r>
            <a:endParaRPr sz="3200"/>
          </a:p>
        </p:txBody>
      </p:sp>
      <p:sp>
        <p:nvSpPr>
          <p:cNvPr id="627" name="Google Shape;627;p15"/>
          <p:cNvSpPr/>
          <p:nvPr/>
        </p:nvSpPr>
        <p:spPr>
          <a:xfrm rot="-5400000">
            <a:off x="16795340" y="5044650"/>
            <a:ext cx="2787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50" lIns="25550" spcFirstLastPara="1" rIns="25550" wrap="square" tIns="25550">
            <a:noAutofit/>
          </a:bodyPr>
          <a:lstStyle/>
          <a:p>
            <a:pPr indent="0" lvl="0" marL="0" marR="0" rtl="0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65" u="none" strike="noStrike">
                <a:solidFill>
                  <a:srgbClr val="C270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— DO NOT DISTRIBUTE</a:t>
            </a:r>
            <a:endParaRPr b="0" sz="765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