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914400"/>
            <a:ext cx="3200400" cy="320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2E8F0"/>
                </a:solidFill>
                <a:latin typeface="Calibri"/>
              </a:defRPr>
            </a:pPr>
            <a:r>
              <a:t>AI Native Distributed Datacenters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97680"/>
            <a:ext cx="8534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Sovereign, resilient, AI-managed edge infrastructure for the next era of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12064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Investor Presentation —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760720"/>
            <a:ext cx="8534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CONFIDENTIAL — DO NOT DISTRIBUTE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America's Compute Infrastructure Is Dangerously Concentrated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Fewer than 30 hyperscale campuses process the vast majority of AI inference, financial transactions, government data, and emergency communications in the United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East Coast internet</a:t>
            </a:r>
            <a:br/>
            <a:r>
              <a:t>traffic through NoVA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Metro markets with majority</a:t>
            </a:r>
            <a:br/>
            <a:r>
              <a:t>of U.S. DC 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$10T+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Daily payments flowing</a:t>
            </a:r>
            <a:br/>
            <a:r>
              <a:t>through concentrated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0A5FA"/>
                </a:solidFill>
                <a:latin typeface="Calibri"/>
              </a:defRPr>
            </a:pPr>
            <a:r>
              <a:t>945 TWh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Projected DC electricity</a:t>
            </a:r>
            <a:br/>
            <a:r>
              <a:t>by 2030 (IEA)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260604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National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 coordinated attack on fewer than a dozen campuses could degrade federal agencies, financial markets, and defense communications simultaneously.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840480"/>
            <a:ext cx="260604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9776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Latency Inequality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43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Communities 50ms+ from the nearest hyperscale region are locked out of real-time AI, telemedicine, autonomous vehicles, and fintech.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260604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9776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Grid Strain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 single 300MW campus demands the output of a small power plant. Concentrated demand strains grids and creates political backlash.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3840480"/>
            <a:ext cx="260604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97764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4444"/>
                </a:solidFill>
                <a:latin typeface="Calibri"/>
              </a:defRPr>
            </a:pPr>
            <a:r>
              <a:t>Sovereignty Erosion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343400"/>
            <a:ext cx="2240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Government data and critical infrastructure depend on the operational decisions and pricing of 3-4 hyperscale vendors.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Five Converging Trends Make This Urgent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AI Inference Moves to the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Inference is 60-70% of all AI compute — bursty, latency-sensitive, geographically distributed. Training stays centralized; inference demands the edge.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DePIN Needs Enterprise-Grade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The DePIN movement validated demand for decentralized compute, but consumer hardware can't meet 99.99% uptime and compliance requirements.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47472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00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920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Federal Policy Tailwinds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OZ program made permanent. $10.5B GRIP, $42.45B BEAD, 30-50% IRA tax credits, and $400B+ DOE lending authority — all aligned with distributed deployment.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47472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Real-Time Apps Proliferating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NG911, FirstNet, autonomous vehicles, industrial IoT, and AR/VR all demand sub-10ms latency that only distributed infrastructure can deliver.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49040"/>
            <a:ext cx="347472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Hardware Has Caught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Inference GPUs at 72-300W, direct liquid cooling enabling 50-120kW/rack in small facilities, and prefab enclosures compressing deployment to 60-90 days.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749040"/>
            <a:ext cx="347472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8862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06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The Window Is 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72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The convergence of AI capability, hardware miniaturization, federal incentives, and market demand creates a once-in-a-generation infrastructure opportunity.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ANDD: A Network of AI-Managed Edge Datacenters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Hundreds to thousands of sub-2MW edge datacenters deployed in Opportunity Zones, forming an interconnected mesh fabric entirely managed by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743200" cy="13716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Edge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200kW-500kW modular facilities, 4-20 racks. Deployed in 60-90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377440"/>
            <a:ext cx="2743200" cy="13716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2468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Regional Hubs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278892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1-2MW aggregation points. Training-class GPUs, dense peering, compliance perimeter.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2743200" cy="13716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AI Control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Distributed consensus across all hubs. Manages workload routing, capacity planning, billing.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3931920"/>
            <a:ext cx="2743200" cy="13716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40233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Mesh Fabric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343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Every node peers with adjacent nodes + connects to 2+ hubs. Self-healing in &lt;30 seconds.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0A5FA"/>
                </a:solidFill>
                <a:latin typeface="Calibri"/>
              </a:defRPr>
            </a:pPr>
            <a:r>
              <a:t>THREE-TIER ARCHITECTURE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291840"/>
            <a:ext cx="4114800" cy="4572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310128"/>
            <a:ext cx="3931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Tier 3: AI Control Plane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5204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Distributed consensus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20840" y="3840480"/>
            <a:ext cx="4572000" cy="4572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858768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Tier 2: Regional Hubs (1-2MW)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06908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3+ hubs • Training GPUs • Dense peering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389120"/>
            <a:ext cx="4846320" cy="4572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407408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2E8F0"/>
                </a:solidFill>
                <a:latin typeface="Calibri"/>
              </a:defRPr>
            </a:pPr>
            <a:r>
              <a:t>Tier 1: Edge Nodes (200kW-500kW)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61772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100s-1000s nodes • OZ-deployed • Mesh-peered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  <a:latin typeface="Calibri"/>
              </a:defRPr>
            </a:pPr>
            <a:r>
              <a:t>99.9999%+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Network Uptime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  <a:latin typeface="Calibri"/>
              </a:defRPr>
            </a:pPr>
            <a:r>
              <a:t>&lt;5ms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Edge Latency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5212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  <a:latin typeface="Calibri"/>
              </a:defRPr>
            </a:pPr>
            <a:r>
              <a:t>60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5577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CA3AF"/>
                </a:solidFill>
                <a:latin typeface="Calibri"/>
              </a:defRPr>
            </a:pPr>
            <a:r>
              <a:t>Deploy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AI-Native Operations: The Economic Unlock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Previous distributed datacenter models failed because sub-2MW sites can't support traditional staffing costs. AI changes the math entirely.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377440"/>
          <a:ext cx="566927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922"/>
                <a:gridCol w="1000461"/>
                <a:gridCol w="2667896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Cost Category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Traditional %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AI Automated?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Facilities staff (24/7 techs)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15-20%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Yes — predictive maintenance + dispatch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Network operations (NOC)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10-15%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Yes — AI monitoring + auto-remediation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Sales &amp; customer mgmt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10-15%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Yes — AI onboarding + self-service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Billing &amp; finance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5-8%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Yes — automated metering + invoicing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Compliance &amp; reporting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5-10%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59E0B"/>
                          </a:solidFill>
                          <a:latin typeface="Calibri"/>
                        </a:defRPr>
                      </a:pPr>
                      <a:r>
                        <a:t>Partial — AI generates, human signs off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Power &amp; cooling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30-40%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Optimizable — AI thermal + demand response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66560" y="2377440"/>
            <a:ext cx="4663440" cy="192024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2468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The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78892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D1D5DB"/>
                </a:solidFill>
                <a:latin typeface="Calibri"/>
              </a:defRPr>
            </a:pPr>
            <a:r>
              <a:t>1 human operator per 20-50 edge nodes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200 nodes need 4-10 people, not the 600-1,000 a traditional operator would require.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E2E8F0"/>
                </a:solidFill>
                <a:latin typeface="Calibri"/>
              </a:defRPr>
            </a:pPr>
          </a:p>
          <a:p>
            <a:pPr algn="l">
              <a:spcAft>
                <a:spcPts val="400"/>
              </a:spcAft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handles &gt;95% of operational tasks — onboarding, provisioning, billing, monitoring, maintenance, and incident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4480560"/>
            <a:ext cx="4663440" cy="21031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457200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Five Specialized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937760"/>
            <a:ext cx="4297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Customer Onboarding Agent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Provisioning Agent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Billing &amp; Revenue Agent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Predictive Maintenance Agent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SLA Guardian Agent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Six Target Constituencies, One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Communities &amp; Local Gov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Public safety (NG911, FirstNet), smart-city sensors, utility SCADA, municipal applications.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Startups &amp; Developers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Edge compute without building your own. AI inference, low-latency APIs, and pay-per-use pricing.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002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Blockchain &amp; Web3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Enterprise-grade DePIN backbone. Validator hosting, DePIN compute, and token settlement.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20040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Regional Fintech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Data residency compliance, sub-50ms fraud detection, local payment processing.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0040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Government &amp;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576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Sovereign infrastructure. FedRAMP, CJIS, ITAR compliance paths. SCIF-compatible buildout.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20040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3337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Telcos &amp; ISPs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6576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Extend edge footprint without CapEx. Carrier-neutral peering, 5G edge compute, CDN offload.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120640"/>
            <a:ext cx="3474720" cy="10972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$500B+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Global Edge Computing</a:t>
            </a:r>
            <a:br/>
            <a:r>
              <a:t>TAM by 2030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5120640"/>
            <a:ext cx="3474720" cy="10972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5212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$25B+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DePIN Infrastructure</a:t>
            </a:r>
            <a:br/>
            <a:r>
              <a:t>Market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5120640"/>
            <a:ext cx="3474720" cy="10972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5212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8,764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669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Opportunity Zones</a:t>
            </a:r>
            <a:br/>
            <a:r>
              <a:t>for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Four Hardware Domains, One Software Fabric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AMD EPYC / Intel Xeon / Ampere Altra Max. 256GB-1TB DDR5. 20-40kW/rack.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Calibri"/>
              </a:defRPr>
            </a:pPr>
            <a: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031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NVMe SSD (hot) + HDD (warm). 100TB-2PB per site. Erasure coding across 3+ nodes.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Connectivity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031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100-400GbE internal. 10-100Gbps backhaul. Direct peering with ISPs, CDNs, cloud on-ramps.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463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  <a:latin typeface="Calibri"/>
              </a:defRPr>
            </a:pPr>
            <a: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8308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AI Accelerators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103120"/>
            <a:ext cx="2240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Edge: L4 (72W), L40S (300W), MI300X. Hubs: H100/H200/B200/GB200. Direct liquid cooling.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731520" y="3291840"/>
          <a:ext cx="530351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487"/>
                <a:gridCol w="4277032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Software Stack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Layer 4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AI Management — Onboarding, Provisioning, Billing, SLA agents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Layer 3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Orchestration — Kubernetes (K3s/RKE2), Istio, AI workload scheduler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Layer 2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Infrastructure — SDN (OVS/VPP), Storage (Ceph/MinIO), AI-controlled DCIM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Layer 1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Hardware — BMC/Redfish, GPU drivers, SONiC/Cumulus switches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665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Security (Defense-in-Depth)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703320"/>
            <a:ext cx="4572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Zero-trust networking (mTLS everywhere)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Hardware root of trust (TPM 2.0, measured boot)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Confidential computing (SEV-SNP / TDX)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Physical security (biometric, surveillance, tamper-evident)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FedRAMP, SOC 2, HIPAA, CJIS, ITAR paths from Day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DEPIN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The Enterprise-Grade Backbone DePIN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ANDD doesn't compete with DePIN projects — it completes them.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5303519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852"/>
                <a:gridCol w="1631852"/>
                <a:gridCol w="2039815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Consumer DePIN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ANDD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Uptime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90-98%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99.99% SLA-backed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Redundancy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N+1 power, cooling, network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Physical Security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Biometric + surveillance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FedRAMP, SOC 2, HIPAA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Connectivity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Residential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Multi-provider, SLA-backed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Data Sovereignty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Unknown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Per-tenant geographic controls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2E8F0"/>
                </a:solidFill>
                <a:latin typeface="Calibri"/>
              </a:defRPr>
            </a:pPr>
            <a:r>
              <a:t>Layered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377440"/>
            <a:ext cx="4846320" cy="59436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3957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  <a:latin typeface="Calibri"/>
              </a:defRPr>
            </a:pPr>
            <a:r>
              <a:t>Layer 4 — DePIN Application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651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Helium 5G, Render, Akash, io.net, custom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3063240"/>
            <a:ext cx="4846320" cy="59436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3081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855F7"/>
                </a:solidFill>
                <a:latin typeface="Calibri"/>
              </a:defRPr>
            </a:pPr>
            <a:r>
              <a:t>Layer 3 — DePIN Protocol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337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Token incentives, proofs, marketplace,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749040"/>
            <a:ext cx="4846320" cy="59436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7673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Layer 2 — ANDD Physical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Enterprise-grade compute, storage, GPU, connectivity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434840"/>
            <a:ext cx="4846320" cy="59436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4453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Layer 1 — ANDD AI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709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Autonomous provisioning, SLA enforcement, billing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212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DePIN projects own protocol + application layers. ANDD owns infrastructure +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INVESTOR INCENTIVES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Opportunity Zone Alignment: Powerful Tax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OZ program made permanent by the One Big Beautiful Bill Act of 2025. ANDD deployment in 8,764 designated tracts unlocks triple-layer tax incentives.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65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Capital Gains Deferral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Defer tax on eligible capital gains by reinvesting into a Qualified Opportunity Fund. Rolling 5-year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Tier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2E8F0"/>
                </a:solidFill>
                <a:latin typeface="Calibri"/>
              </a:defRPr>
            </a:pPr>
            <a:r>
              <a:t>Basis Step-Up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14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10% step-up at 5 years. Up to 30% for rural OZ investments via Qualified Rural Opportunity Funds.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920240"/>
            <a:ext cx="3474720" cy="15544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6596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Calibri"/>
              </a:defRPr>
            </a:pPr>
            <a:r>
              <a:t>Tier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1945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Calibri"/>
              </a:defRPr>
            </a:pPr>
            <a:r>
              <a:t>10-Year Exclusion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146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ZERO federal capital gains tax on ALL appreciation of the new investment when held 10+ years.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Per-Site Community Impact (200kW Node)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3931920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01168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Construction jobs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15-30 (6-12 mo build)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Permanent operations jobs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1-3 technicians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Annual property tax revenue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$50K-$150K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Annual utility revenue (local)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$150K-$300K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Indirect multiplier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1.5-2.0x direct spend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583680" y="3611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Additional Federal Funding Streams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77639"/>
            <a:ext cx="48463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DOE GRIP Program: $10.5B for microgrids &amp; distributed energy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DOE Loan Programs Office: $400B+ lending authority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NTIA BEAD: $42.45B for broadband co-location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IRA Tax Credits: 30-50% ITC for solar, BESS, fuel cells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USDA REAP: Grants/loans for rural renewable energy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Multi-Rail Revenue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Revenue Streams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502919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685"/>
                <a:gridCol w="2155371"/>
                <a:gridCol w="1796142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Monthly post-paid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Startups, developers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Professional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Monthly/Annual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Mid-market, fintech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Annual contracts (15-20% discount)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Large enterprise, telcos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Government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Multi-year (3-5 yr)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Federal, state, local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DePIN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Real-time micro-txns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Web3, blockchain projects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Payment 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6052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Fiat: Credit card, ACH, wire, PO-backed (via Stripe/Adyen)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Stablecoin: USDC/USDT on Ethereum, Solana, L2s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Micro-transactions: Payment channels for sub-cent settlement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Smart Contract SLAs: Automatic credit enforcement on-chain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188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Unit Economics (200kW Edge Node)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508760"/>
          <a:ext cx="48463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792"/>
                <a:gridCol w="1938528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CapEx per node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$1.5M-$2.5M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Annual revenue (at utilization)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$500K-$1M+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Traditional OpEx (staffing)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$400K+ (margin killer)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ANDD AI-native OpEx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$80K-$150K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Power cost (@ $0.08/kWh)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$140K/yr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Connectivity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$60K-$120K/yr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583680" y="3840480"/>
            <a:ext cx="4846320" cy="10972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9319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Margin Unlock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2062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AI-native operations reduce staffing costs by 60-75%, making sub-2MW facilities margin-positive for the first time. Traditional model: margin-negative below 5MW. ANDD: profitable at 200kW.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5120640"/>
            <a:ext cx="4846320" cy="10972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5212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Energy Revenue Upside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4864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On-site solar + BESS generates $50K-$200K/yr in grid services revenue (demand response, frequency regulation). 2-4 year payback after IRA credits.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Why Previous Models Failed. Why ANDD Wins.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669279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2429691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How Others Failed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ANDD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Operational cost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Too high &lt;2MW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AI ops: 1 human per 20-50 nodes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Location selection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Deployer-driven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AI demand modeling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Hardware reliability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Consumer-grade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Enterprise-grade, AI-monitored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Utilization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Supply/demand mismatch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AI capacity planning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SLA enforcement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Reputation-only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Smart contract SLAs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Ignored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FedRAMP, SOC 2, HIPAA built-in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Network effects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Isolated nodes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Mesh fabric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Token value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Speculation-driven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Utility-driven, real revenue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66560" y="1371600"/>
            <a:ext cx="4663440" cy="1188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03720" y="14630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EdgeConneX / Vapor IO / EdgeMicro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7373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Deployed small edge sites but relied on traditional human operations. Could not achieve economics below 1-2MW.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0" y="2697480"/>
            <a:ext cx="4663440" cy="1188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27889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Helium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06324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900K+ hotspots deployed. Couldn't guarantee coverage or uptime where it mattered. Consumer hardware = no enterprise adoption.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4023360"/>
            <a:ext cx="4663440" cy="1188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41148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Filecoin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389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22+ EiB capacity. Mostly empty "committed capacity." Industrial miners dominate, undermining decentralization.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5349239"/>
            <a:ext cx="4663440" cy="1188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544067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E8F0"/>
                </a:solidFill>
                <a:latin typeface="Calibri"/>
              </a:defRPr>
            </a:pPr>
            <a:r>
              <a:t>Telco Edge (MEC)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5714999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AT&amp;T, Verizon announced edge strategies. Underdelivered due to carrier lock-in and org misalignment. ANDD is carrier-neutral.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NATIONAL SECURITY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Resilience the Nation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ANDD's distributed architecture provides resilience that no single-campus model can match — for payments, energy, emergency services, and defense.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Payments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Distributed processing for card authorization, ACH, FedNow. Local store-and-forward during backbone disruptions.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9456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Energy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6060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Distributed SCADA/EMS hosting. Virtual power plant from aggregated BESS. Microgrid islanding for grid emergencies.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9456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Emergency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Local NG911 hosting. FirstNet edge compute for first responders. Emergency ops center computing.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2194560"/>
            <a:ext cx="260604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2860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60604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Sovereign infrastructure not dependent on hyperscale vendors. SCIF-capable sites. SIPRNet/NIPRNet gateway.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06240"/>
            <a:ext cx="502920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97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SINGLE HYPERSCALE CAMPUS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F4444"/>
                </a:solidFill>
                <a:latin typeface="Calibri"/>
              </a:defRPr>
            </a:pPr>
            <a:r>
              <a:t>67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Expected annual downtime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99.99% uptime + 1% catastrophic failure risk/yr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06240"/>
            <a:ext cx="5029200" cy="201168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2C55E"/>
                </a:solidFill>
                <a:latin typeface="Calibri"/>
              </a:defRPr>
            </a:pPr>
            <a:r>
              <a:t>ANDD MESH (100 NODES)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2C55E"/>
                </a:solidFill>
                <a:latin typeface="Calibri"/>
              </a:defRPr>
            </a:pPr>
            <a:r>
              <a:t>99.9999%+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Network-level availability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440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Graceful degradation, not catastrophic failure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COORDINATION &amp; SETTLEMENT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2E8F0"/>
                </a:solidFill>
                <a:latin typeface="Calibri"/>
              </a:defRPr>
            </a:pPr>
            <a:r>
              <a:t>Network-Native Consensus for Sovereign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A distributed network of AI-managed datacenters requires a coordination and settlement layer that is as resilient as the infrastructure it serves.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The Problem with External 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Solana outage = DePIN settlement halted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Ethereum gas spike = micro-transactions uneconomical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L2 sequencer dependency = sovereignty gap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Application-layer consensus can't leverage ANDD's mesh fabric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D1D5DB"/>
                </a:solidFill>
                <a:latin typeface="Calibri"/>
              </a:defRPr>
            </a:pPr>
            <a:r>
              <a:t>▸  Traditional chains break under asymmetric network partitions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What ANDD Needs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4206240"/>
          <a:ext cx="530351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889"/>
                <a:gridCol w="407963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Consensus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BFT integrated into the network fabric — not a Layer 7 overlay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Propagation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Lightweight messages that work on LEO satellite and constrained backhaul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Partitions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Both sides of a fiber cut keep transacting; resync when reconnected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Commercially sensitive billing and tenant data stays private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AI Integration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Machine-readable state so AI agents can reason about on-chain data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0" y="18288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The Full Sovereign Stack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194560"/>
            <a:ext cx="4846320" cy="502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21284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CA3AF"/>
                </a:solidFill>
                <a:latin typeface="Calibri"/>
              </a:defRPr>
            </a:pPr>
            <a: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8" y="24231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Customer workloads, DePIN protocols, gov services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61488"/>
            <a:ext cx="4846320" cy="502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77977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855F7"/>
                </a:solidFill>
                <a:latin typeface="Calibri"/>
              </a:defRPr>
            </a:pPr>
            <a:r>
              <a:t>SMART CONTRACT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9900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Privacy-preserving runtime for SLAs, billing, DePIN settlement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3328416"/>
            <a:ext cx="4846320" cy="502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334670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A855F7"/>
                </a:solidFill>
                <a:latin typeface="Calibri"/>
              </a:defRPr>
            </a:pPr>
            <a:r>
              <a:t>CONSENSUS &amp; SETTLEMENT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35570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Network-native BFT consensus on ANDD hub infrastructure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3895344"/>
            <a:ext cx="4846320" cy="502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8" y="391363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Calibri"/>
              </a:defRPr>
            </a:pPr>
            <a:r>
              <a:t>NETWORK FABRIC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412394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BIER multicast, SRv6, mesh interconnection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462272"/>
            <a:ext cx="4846320" cy="502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448056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0A5FA"/>
                </a:solidFill>
                <a:latin typeface="Calibri"/>
              </a:defRPr>
            </a:pPr>
            <a:r>
              <a:t>AI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69087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Autonomous management reading/writing on-chain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029200"/>
            <a:ext cx="4846320" cy="502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504748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CA3AF"/>
                </a:solidFill>
                <a:latin typeface="Calibri"/>
              </a:defRPr>
            </a:pPr>
            <a:r>
              <a:t>PHYSICAL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525780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Compute, GPU, storage, power,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596128"/>
            <a:ext cx="4846320" cy="502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93408" y="561441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9CA3AF"/>
                </a:solidFill>
                <a:latin typeface="Calibri"/>
              </a:defRPr>
            </a:pPr>
            <a:r>
              <a:t>ENERGY &amp; RESILIENCE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582472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1D5DB"/>
                </a:solidFill>
                <a:latin typeface="Calibri"/>
              </a:defRPr>
            </a:pPr>
            <a:r>
              <a:t>Microgrids, BESS, solar, fuel cells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62179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Calibri"/>
              </a:defRPr>
            </a:pPr>
            <a:r>
              <a:t>No external dependency at any layer. Fully sovereign.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Path to Continental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606040" cy="3474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PHASE 1 —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Months 1-12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3317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AI management layer architecture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200kW reference design certified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3-5 pilot sites in diverse geographies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SOC 2 Type I certification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Beta customers across 3+ segments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QOF structure established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606040" cy="3474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417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PHASE 2 — NETWORK 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6916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Months 12-24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3317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20-50 edge nodes in regional clusters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2-3 regional hubs deployed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AI handles &gt;90% of ops autonomously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First government customers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2-3 DePIN projects onboarded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FedRAMP Moderate authorization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06040" cy="3474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PHASE 3 —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916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Months 24-48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3317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100-300 nodes, 10+ regional hubs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Full mesh fabric operational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Smart contract SLAs live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Federal government customers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Defense network integration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10+ active DePIN projects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371600"/>
            <a:ext cx="2606040" cy="3474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141732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PHASE 4 — CONTINENTAL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6916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1D5DB"/>
                </a:solidFill>
                <a:latin typeface="Calibri"/>
              </a:defRPr>
            </a:pPr>
            <a:r>
              <a:t>Months 48-72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33172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500-1,000+ edge nodes nationwide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Full AI autonomy for standard ops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International expansion (allied nations)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Self-sustaining: revenue funds growth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VPP grid services at scale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D1D5DB"/>
                </a:solidFill>
                <a:latin typeface="Calibri"/>
              </a:defRPr>
            </a:pPr>
            <a:r>
              <a:t>▸  Critical national infrastructure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alibri"/>
              </a:defRPr>
            </a:pPr>
            <a:r>
              <a:t>3-5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Pilot Sites Year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alibri"/>
              </a:defRPr>
            </a:pPr>
            <a: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623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Nodes by Year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alibri"/>
              </a:defRPr>
            </a:pPr>
            <a:r>
              <a:t>300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5623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Nodes by Year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2120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0A5FA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62356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Nodes by Year 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ENERGY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2E8F0"/>
                </a:solidFill>
                <a:latin typeface="Calibri"/>
              </a:defRPr>
            </a:pPr>
            <a:r>
              <a:t>Clean, Resilient, Revenue-Generating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Microgrid Architecture (Per Site)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17320"/>
          <a:ext cx="53035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3535680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Utility Grid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Primary power source, metered for demand response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On-Site Solar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30-50% energy offset, IRA 30-50% ITC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BESS (LFP Battery)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2-4hr backup + peak shaving + grid services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Fuel Cell (PEM/SOFC)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Clean backup, 50-65% efficiency, zero local emissions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AI Microgrid Controller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Islanding-capable, optimizes cost + resilience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Cooling Efficiency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4023360"/>
          <a:ext cx="5303519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1852"/>
                <a:gridCol w="1223889"/>
                <a:gridCol w="2447778"/>
              </a:tblGrid>
              <a:tr h="3474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PUE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60A5FA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Air cooling (DX)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F4444"/>
                          </a:solidFill>
                          <a:latin typeface="Calibri"/>
                        </a:defRPr>
                      </a:pPr>
                      <a:r>
                        <a:t>1.40-1.80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Industry legacy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Direct liquid (DLC)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1.10-1.20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ANDD baseline for GPU racks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Immersion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1.02-1.06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Max density option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257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Moving from air to immersion saves ~300kW per MW — effectively +30% usable compute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097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2E8F0"/>
                </a:solidFill>
                <a:latin typeface="Calibri"/>
              </a:defRPr>
            </a:pPr>
            <a:r>
              <a:t>Energy Economics (200kW Node)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1417320"/>
          <a:ext cx="484632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7792"/>
                <a:gridCol w="1938528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100kW solar array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~$150K installed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500kWh BESS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~$200K installed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IRA ITC (30-50%)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-$105K to -$175K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Annual utility savings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$40K-$80K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Peak shaving value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$24K-$150K/yr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Grid services revenue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$50K-$200K/yr per MW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Effective payback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2C55E"/>
                          </a:solidFill>
                          <a:latin typeface="Calibri"/>
                        </a:defRPr>
                      </a:pPr>
                      <a:r>
                        <a:t>2-4 years</a:t>
                      </a:r>
                    </a:p>
                  </a:txBody>
                  <a:tcPr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583680" y="4297680"/>
            <a:ext cx="4846320" cy="16459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3891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Calibri"/>
              </a:defRPr>
            </a:pPr>
            <a:r>
              <a:t>Virtual Power Plant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7091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1D5DB"/>
                </a:solidFill>
                <a:latin typeface="Calibri"/>
              </a:defRPr>
            </a:pPr>
            <a:r>
              <a:t>Distributed BESS across hundreds of sites aggregates into a VPP providing grid services — frequency regulation, demand response, capacity reserves — with geographic diversity that reduces correlated failure risk. Additional revenue stream on top of compute services.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45720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  <a:latin typeface="Calibri"/>
              </a:defRPr>
            </a:pPr>
            <a:r>
              <a:t>Invest in America's Distributed Compute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ANDD is building the infrastructure layer the nation needs — sovereign, resilient, AI-managed, and aligned with the most powerful tax incentives in a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834640"/>
            <a:ext cx="3200400" cy="13716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Calibri"/>
              </a:defRPr>
            </a:pPr>
            <a:r>
              <a:t>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Federal capital gains tax on</a:t>
            </a:r>
            <a:br/>
            <a:r>
              <a:t>appreciation after 10-year OZ hold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834640"/>
            <a:ext cx="3200400" cy="13716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15-20yr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Datacenter asset useful life —</a:t>
            </a:r>
            <a:br/>
            <a:r>
              <a:t>natural alignment with OZ hold period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834640"/>
            <a:ext cx="3200400" cy="137160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9260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Calibri"/>
              </a:defRPr>
            </a:pPr>
            <a:r>
              <a:t>$50B+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474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Calibri"/>
              </a:defRPr>
            </a:pPr>
            <a:r>
              <a:t>Federal funding aligned with</a:t>
            </a:r>
            <a:br/>
            <a:r>
              <a:t>ANDD's deployment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572000"/>
            <a:ext cx="3200400" cy="1188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4663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CURRENT INCOME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Revenue from infrastructure services from Year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4572000"/>
            <a:ext cx="3200400" cy="1188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4663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APPRECIATION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937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Asset value grows as network scales and utilization increases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572000"/>
            <a:ext cx="3200400" cy="1188720"/>
          </a:xfrm>
          <a:prstGeom prst="roundRect">
            <a:avLst/>
          </a:prstGeom>
          <a:solidFill>
            <a:srgbClr val="162440"/>
          </a:solidFill>
          <a:ln w="12700">
            <a:solidFill>
              <a:srgbClr val="1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466344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0A5FA"/>
                </a:solidFill>
                <a:latin typeface="Calibri"/>
              </a:defRPr>
            </a:pPr>
            <a:r>
              <a:t>NATIONAL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9377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1D5DB"/>
                </a:solidFill>
                <a:latin typeface="Calibri"/>
              </a:defRPr>
            </a:pPr>
            <a:r>
              <a:t>Jobs, connectivity, and AI capabilities for underserved communities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n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7" y="1097280"/>
            <a:ext cx="2560320" cy="256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2E8F0"/>
                </a:solidFill>
                <a:latin typeface="Calibri"/>
              </a:defRPr>
            </a:pPr>
            <a:r>
              <a:t>Let's Build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Calibri"/>
              </a:defRPr>
            </a:pPr>
            <a:r>
              <a:t>The question is no longer whether distributed, AI-managed datacenter infrastructure is technically feasible. The question is how quickly it can be deployed.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contact@andd.network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095" y="5029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0A5FA"/>
                </a:solidFill>
                <a:latin typeface="Calibri"/>
              </a:defRPr>
            </a:pPr>
            <a:r>
              <a:t>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5257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1D5DB"/>
                </a:solidFill>
                <a:latin typeface="Calibri"/>
              </a:defRPr>
            </a:pPr>
            <a:r>
              <a:t>andd.network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8534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CONFIDENTIAL — DO NOT DISTRIBUTE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